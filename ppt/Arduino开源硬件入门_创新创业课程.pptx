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4"/>
  </p:normalViewPr>
  <p:slideViewPr>
    <p:cSldViewPr snapToGrid="0" snapToObjects="1">
      <p:cViewPr varScale="1">
        <p:scale>
          <a:sx n="119" d="100"/>
          <a:sy n="119" d="100"/>
        </p:scale>
        <p:origin x="216" y="23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media-generation-cover-hero-0-9ab846d8-13a7-44f5-9c93-80ca7274ab66.png"/>
          <p:cNvPicPr>
            <a:picLocks noChangeAspect="1"/>
          </p:cNvPicPr>
          <p:nvPr/>
        </p:nvPicPr>
        <p:blipFill>
          <a:blip r:embed="rId2"/>
          <a:srcRect l="1" r="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</p:spPr>
      </p:pic>
      <p:sp>
        <p:nvSpPr>
          <p:cNvPr id="3" name="Rectangle 2"/>
          <p:cNvSpPr/>
          <p:nvPr/>
        </p:nvSpPr>
        <p:spPr>
          <a:xfrm>
            <a:off x="0" y="0"/>
            <a:ext cx="5212080" cy="6858000"/>
          </a:xfrm>
          <a:prstGeom prst="rect">
            <a:avLst/>
          </a:prstGeom>
          <a:solidFill>
            <a:srgbClr val="004E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212080" y="0"/>
            <a:ext cx="54864" cy="685800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188720"/>
            <a:ext cx="4023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2200" b="0">
                <a:solidFill>
                  <a:srgbClr val="FFFFFF"/>
                </a:solidFill>
                <a:latin typeface="微软雅黑"/>
                <a:ea typeface="微软雅黑"/>
              </a:rPr>
              <a:t>创新创业课程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37360"/>
            <a:ext cx="42062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5200" b="1">
                <a:solidFill>
                  <a:srgbClr val="FFFFFF"/>
                </a:solidFill>
                <a:latin typeface="微软雅黑"/>
                <a:ea typeface="微软雅黑"/>
              </a:rPr>
              <a:t>Arduino</a:t>
            </a:r>
            <a:r>
              <a:rPr sz="4000" b="1">
                <a:solidFill>
                  <a:srgbClr val="FFFFFF"/>
                </a:solidFill>
                <a:latin typeface="微软雅黑"/>
                <a:ea typeface="微软雅黑"/>
              </a:rPr>
              <a:t>开源硬件入门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3794760"/>
            <a:ext cx="4023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700" b="0">
                <a:solidFill>
                  <a:srgbClr val="FFFFFF"/>
                </a:solidFill>
                <a:latin typeface="微软雅黑"/>
                <a:ea typeface="微软雅黑"/>
              </a:rPr>
              <a:t>从想法到原型 · 动手做出你的第一个智能硬件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4434840"/>
            <a:ext cx="822960" cy="4572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0080" y="5120640"/>
            <a:ext cx="4023360" cy="66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0" dirty="0" err="1">
                <a:solidFill>
                  <a:srgbClr val="FFFFFF"/>
                </a:solidFill>
                <a:latin typeface="微软雅黑"/>
                <a:ea typeface="微软雅黑"/>
              </a:rPr>
              <a:t>授课教师</a:t>
            </a:r>
            <a:r>
              <a:rPr sz="1600" b="0" dirty="0">
                <a:solidFill>
                  <a:srgbClr val="FFFFFF"/>
                </a:solidFill>
                <a:latin typeface="微软雅黑"/>
                <a:ea typeface="微软雅黑"/>
              </a:rPr>
              <a:t>：</a:t>
            </a:r>
            <a:r>
              <a:rPr lang="zh-CN" altLang="en-US" sz="1600" b="0" dirty="0">
                <a:solidFill>
                  <a:srgbClr val="FFFFFF"/>
                </a:solidFill>
                <a:latin typeface="微软雅黑"/>
                <a:ea typeface="微软雅黑"/>
              </a:rPr>
              <a:t>陈士超</a:t>
            </a:r>
            <a:endParaRPr sz="1600" b="0" dirty="0">
              <a:solidFill>
                <a:srgbClr val="FFFFFF"/>
              </a:solidFill>
              <a:latin typeface="微软雅黑"/>
              <a:ea typeface="微软雅黑"/>
            </a:endParaRP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600" b="0" dirty="0">
                <a:solidFill>
                  <a:srgbClr val="FFFFFF"/>
                </a:solidFill>
                <a:latin typeface="微软雅黑"/>
                <a:ea typeface="微软雅黑"/>
              </a:rPr>
              <a:t>2026 </a:t>
            </a:r>
            <a:r>
              <a:rPr sz="1600" b="0" dirty="0" err="1">
                <a:solidFill>
                  <a:srgbClr val="FFFFFF"/>
                </a:solidFill>
                <a:latin typeface="微软雅黑"/>
                <a:ea typeface="微软雅黑"/>
              </a:rPr>
              <a:t>年</a:t>
            </a:r>
            <a:r>
              <a:rPr sz="1600" b="0" dirty="0">
                <a:solidFill>
                  <a:srgbClr val="FFFFFF"/>
                </a:solidFill>
                <a:latin typeface="微软雅黑"/>
                <a:ea typeface="微软雅黑"/>
              </a:rPr>
              <a:t> 10 </a:t>
            </a:r>
            <a:r>
              <a:rPr sz="1600" b="0" dirty="0" err="1">
                <a:solidFill>
                  <a:srgbClr val="FFFFFF"/>
                </a:solidFill>
                <a:latin typeface="微软雅黑"/>
                <a:ea typeface="微软雅黑"/>
              </a:rPr>
              <a:t>月</a:t>
            </a:r>
            <a:endParaRPr sz="1600" b="0" dirty="0">
              <a:solidFill>
                <a:srgbClr val="FFFFFF"/>
              </a:solidFill>
              <a:latin typeface="微软雅黑"/>
              <a:ea typeface="微软雅黑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0097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91440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200" b="0">
                <a:solidFill>
                  <a:srgbClr val="FFFFFF"/>
                </a:solidFill>
                <a:latin typeface="微软雅黑"/>
                <a:ea typeface="微软雅黑"/>
              </a:rPr>
              <a:t>课程导入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56032"/>
            <a:ext cx="10789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2600" b="1">
                <a:solidFill>
                  <a:srgbClr val="FFFFFF"/>
                </a:solidFill>
                <a:latin typeface="微软雅黑"/>
                <a:ea typeface="微软雅黑"/>
              </a:rPr>
              <a:t>本课学习目标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804672"/>
            <a:ext cx="822960" cy="4572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40080" y="6355080"/>
            <a:ext cx="10908792" cy="22860"/>
          </a:xfrm>
          <a:prstGeom prst="rect">
            <a:avLst/>
          </a:prstGeom>
          <a:solidFill>
            <a:srgbClr val="F1F4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6419088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100" b="0">
                <a:solidFill>
                  <a:srgbClr val="5F6B72"/>
                </a:solidFill>
                <a:latin typeface="微软雅黑"/>
                <a:ea typeface="微软雅黑"/>
              </a:rPr>
              <a:t>创新创业课程 · Arduino 开源硬件入门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19088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1000"/>
              </a:spcAft>
            </a:pPr>
            <a:r>
              <a:rPr sz="1100" b="0">
                <a:solidFill>
                  <a:srgbClr val="5F6B72"/>
                </a:solidFill>
                <a:latin typeface="微软雅黑"/>
                <a:ea typeface="微软雅黑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234440"/>
            <a:ext cx="60350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100"/>
              </a:spcAft>
            </a:pPr>
            <a:r>
              <a:rPr sz="2000" b="0">
                <a:solidFill>
                  <a:srgbClr val="2B2B2B"/>
                </a:solidFill>
                <a:latin typeface="微软雅黑"/>
                <a:ea typeface="微软雅黑"/>
              </a:rPr>
              <a:t>了解开源硬件与 Arduino 的基本概念、发展历程与生态</a:t>
            </a:r>
          </a:p>
          <a:p>
            <a:pPr algn="l">
              <a:spcBef>
                <a:spcPts val="0"/>
              </a:spcBef>
              <a:spcAft>
                <a:spcPts val="1100"/>
              </a:spcAft>
            </a:pPr>
            <a:r>
              <a:rPr sz="2000" b="0">
                <a:solidFill>
                  <a:srgbClr val="2B2B2B"/>
                </a:solidFill>
                <a:latin typeface="微软雅黑"/>
                <a:ea typeface="微软雅黑"/>
              </a:rPr>
              <a:t>认识开发板、常用传感器与执行器：知道"买什么、怎么连"</a:t>
            </a:r>
          </a:p>
          <a:p>
            <a:pPr algn="l">
              <a:spcBef>
                <a:spcPts val="0"/>
              </a:spcBef>
              <a:spcAft>
                <a:spcPts val="1100"/>
              </a:spcAft>
            </a:pPr>
            <a:r>
              <a:rPr sz="2000" b="0">
                <a:solidFill>
                  <a:srgbClr val="2B2B2B"/>
                </a:solidFill>
                <a:latin typeface="微软雅黑"/>
                <a:ea typeface="微软雅黑"/>
              </a:rPr>
              <a:t>掌握 Arduino IDE，独立完成第一个程序：点亮 LED</a:t>
            </a:r>
          </a:p>
          <a:p>
            <a:pPr algn="l">
              <a:spcBef>
                <a:spcPts val="0"/>
              </a:spcBef>
              <a:spcAft>
                <a:spcPts val="1100"/>
              </a:spcAft>
            </a:pPr>
            <a:r>
              <a:rPr sz="2000" b="0">
                <a:solidFill>
                  <a:srgbClr val="2B2B2B"/>
                </a:solidFill>
                <a:latin typeface="微软雅黑"/>
                <a:ea typeface="微软雅黑"/>
              </a:rPr>
              <a:t>学习 6 个低成本、易复现的创意项目，找到动手方向</a:t>
            </a:r>
          </a:p>
          <a:p>
            <a:pPr algn="l">
              <a:spcBef>
                <a:spcPts val="0"/>
              </a:spcBef>
              <a:spcAft>
                <a:spcPts val="1100"/>
              </a:spcAft>
            </a:pPr>
            <a:r>
              <a:rPr sz="2000" b="0">
                <a:solidFill>
                  <a:srgbClr val="2B2B2B"/>
                </a:solidFill>
                <a:latin typeface="微软雅黑"/>
                <a:ea typeface="微软雅黑"/>
              </a:rPr>
              <a:t>理解"从课堂原型到创业产品"的基本路径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0" y="1234440"/>
            <a:ext cx="4023360" cy="1042415"/>
          </a:xfrm>
          <a:prstGeom prst="roundRect">
            <a:avLst/>
          </a:prstGeom>
          <a:solidFill>
            <a:srgbClr val="F1F4F5"/>
          </a:solidFill>
          <a:ln w="15875">
            <a:solidFill>
              <a:srgbClr val="F1F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589520" y="1344168"/>
            <a:ext cx="35661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800" b="1">
                <a:solidFill>
                  <a:srgbClr val="006B70"/>
                </a:solidFill>
                <a:latin typeface="微软雅黑"/>
                <a:ea typeface="微软雅黑"/>
              </a:rPr>
              <a:t>01  认识 Arduino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400" b="0">
                <a:solidFill>
                  <a:srgbClr val="5F6B72"/>
                </a:solidFill>
                <a:latin typeface="微软雅黑"/>
                <a:ea typeface="微软雅黑"/>
              </a:rPr>
              <a:t>概念 · 历史 · 生态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0" y="2404872"/>
            <a:ext cx="4023360" cy="1042415"/>
          </a:xfrm>
          <a:prstGeom prst="roundRect">
            <a:avLst/>
          </a:prstGeom>
          <a:solidFill>
            <a:srgbClr val="F1F4F5"/>
          </a:solidFill>
          <a:ln w="15875">
            <a:solidFill>
              <a:srgbClr val="F1F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589520" y="2514600"/>
            <a:ext cx="35661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800" b="1">
                <a:solidFill>
                  <a:srgbClr val="006B70"/>
                </a:solidFill>
                <a:latin typeface="微软雅黑"/>
                <a:ea typeface="微软雅黑"/>
              </a:rPr>
              <a:t>02  动手点亮第一盏灯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400" b="0">
                <a:solidFill>
                  <a:srgbClr val="5F6B72"/>
                </a:solidFill>
                <a:latin typeface="微软雅黑"/>
                <a:ea typeface="微软雅黑"/>
              </a:rPr>
              <a:t>IDE · 第一个程序 · 电路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0" y="3575304"/>
            <a:ext cx="4023360" cy="1042415"/>
          </a:xfrm>
          <a:prstGeom prst="roundRect">
            <a:avLst/>
          </a:prstGeom>
          <a:solidFill>
            <a:srgbClr val="F1F4F5"/>
          </a:solidFill>
          <a:ln w="15875">
            <a:solidFill>
              <a:srgbClr val="F1F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589520" y="3685032"/>
            <a:ext cx="35661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800" b="1">
                <a:solidFill>
                  <a:srgbClr val="006B70"/>
                </a:solidFill>
                <a:latin typeface="微软雅黑"/>
                <a:ea typeface="微软雅黑"/>
              </a:rPr>
              <a:t>03  六个创意项目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400" b="0">
                <a:solidFill>
                  <a:srgbClr val="5F6B72"/>
                </a:solidFill>
                <a:latin typeface="微软雅黑"/>
                <a:ea typeface="微软雅黑"/>
              </a:rPr>
              <a:t>低成本 · 易复现 · 可拓展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0" y="4745736"/>
            <a:ext cx="4023360" cy="1042415"/>
          </a:xfrm>
          <a:prstGeom prst="roundRect">
            <a:avLst/>
          </a:prstGeom>
          <a:solidFill>
            <a:srgbClr val="F1F4F5"/>
          </a:solidFill>
          <a:ln w="15875">
            <a:solidFill>
              <a:srgbClr val="F1F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589520" y="4855464"/>
            <a:ext cx="35661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800" b="1">
                <a:solidFill>
                  <a:srgbClr val="006B70"/>
                </a:solidFill>
                <a:latin typeface="微软雅黑"/>
                <a:ea typeface="微软雅黑"/>
              </a:rPr>
              <a:t>04  从原型到产品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400" b="0">
                <a:solidFill>
                  <a:srgbClr val="5F6B72"/>
                </a:solidFill>
                <a:latin typeface="微软雅黑"/>
                <a:ea typeface="微软雅黑"/>
              </a:rPr>
              <a:t>双创视角 · 商业化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0" y="5897880"/>
            <a:ext cx="4023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400" b="1">
                <a:solidFill>
                  <a:srgbClr val="5F6B72"/>
                </a:solidFill>
                <a:latin typeface="微软雅黑"/>
                <a:ea typeface="微软雅黑"/>
              </a:rPr>
              <a:t>本课路线图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media-generation-section-bg-0-7b1fceb4-6a00-469c-a6a8-50e5a6ce5baa.png"/>
          <p:cNvPicPr>
            <a:picLocks noChangeAspect="1"/>
          </p:cNvPicPr>
          <p:nvPr/>
        </p:nvPicPr>
        <p:blipFill>
          <a:blip r:embed="rId2"/>
          <a:srcRect l="1" r="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</p:spPr>
      </p:pic>
      <p:sp>
        <p:nvSpPr>
          <p:cNvPr id="3" name="TextBox 2"/>
          <p:cNvSpPr txBox="1"/>
          <p:nvPr/>
        </p:nvSpPr>
        <p:spPr>
          <a:xfrm>
            <a:off x="914400" y="1828800"/>
            <a:ext cx="10332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4400" b="1">
                <a:solidFill>
                  <a:srgbClr val="E67E22"/>
                </a:solidFill>
                <a:latin typeface="微软雅黑"/>
                <a:ea typeface="微软雅黑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697480"/>
            <a:ext cx="10332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4600" b="1">
                <a:solidFill>
                  <a:srgbClr val="FFFFFF"/>
                </a:solidFill>
                <a:latin typeface="微软雅黑"/>
                <a:ea typeface="微软雅黑"/>
              </a:rPr>
              <a:t>认识 Arduino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3977639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2100" b="0">
                <a:solidFill>
                  <a:srgbClr val="FFFFFF"/>
                </a:solidFill>
                <a:latin typeface="微软雅黑"/>
                <a:ea typeface="微软雅黑"/>
              </a:rPr>
              <a:t>开源硬件的世界 · 为什么它是创新的起点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0097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91440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200" b="0">
                <a:solidFill>
                  <a:srgbClr val="FFFFFF"/>
                </a:solidFill>
                <a:latin typeface="微软雅黑"/>
                <a:ea typeface="微软雅黑"/>
              </a:rPr>
              <a:t>01 · 认识 Arduino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56032"/>
            <a:ext cx="10789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2600" b="1">
                <a:solidFill>
                  <a:srgbClr val="FFFFFF"/>
                </a:solidFill>
                <a:latin typeface="微软雅黑"/>
                <a:ea typeface="微软雅黑"/>
              </a:rPr>
              <a:t>为什么创新创业课要学硬件？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804672"/>
            <a:ext cx="822960" cy="4572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40080" y="6355080"/>
            <a:ext cx="10908792" cy="22860"/>
          </a:xfrm>
          <a:prstGeom prst="rect">
            <a:avLst/>
          </a:prstGeom>
          <a:solidFill>
            <a:srgbClr val="F1F4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6419088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100" b="0">
                <a:solidFill>
                  <a:srgbClr val="5F6B72"/>
                </a:solidFill>
                <a:latin typeface="微软雅黑"/>
                <a:ea typeface="微软雅黑"/>
              </a:rPr>
              <a:t>创新创业课程 · Arduino 开源硬件入门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19088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1000"/>
              </a:spcAft>
            </a:pPr>
            <a:r>
              <a:rPr sz="1100" b="0">
                <a:solidFill>
                  <a:srgbClr val="5F6B72"/>
                </a:solidFill>
                <a:latin typeface="微软雅黑"/>
                <a:ea typeface="微软雅黑"/>
              </a:rPr>
              <a:t>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280160"/>
            <a:ext cx="5394960" cy="214884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F1F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60119" y="1508760"/>
            <a:ext cx="47548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000" b="1">
                <a:solidFill>
                  <a:srgbClr val="E67E22"/>
                </a:solidFill>
                <a:latin typeface="微软雅黑"/>
                <a:ea typeface="微软雅黑"/>
              </a:rPr>
              <a:t>01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100" b="1">
                <a:solidFill>
                  <a:srgbClr val="2B2B2B"/>
                </a:solidFill>
                <a:latin typeface="微软雅黑"/>
                <a:ea typeface="微软雅黑"/>
              </a:rPr>
              <a:t>想法落地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600" b="0">
                <a:solidFill>
                  <a:srgbClr val="5F6B72"/>
                </a:solidFill>
                <a:latin typeface="微软雅黑"/>
                <a:ea typeface="微软雅黑"/>
              </a:rPr>
              <a:t>硬件把头脑中的想法变成
可以触摸、可以演示的原型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280160"/>
            <a:ext cx="5394960" cy="214884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F1F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583680" y="1508760"/>
            <a:ext cx="47548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000" b="1">
                <a:solidFill>
                  <a:srgbClr val="E67E22"/>
                </a:solidFill>
                <a:latin typeface="微软雅黑"/>
                <a:ea typeface="微软雅黑"/>
              </a:rPr>
              <a:t>02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100" b="1">
                <a:solidFill>
                  <a:srgbClr val="2B2B2B"/>
                </a:solidFill>
                <a:latin typeface="微软雅黑"/>
                <a:ea typeface="微软雅黑"/>
              </a:rPr>
              <a:t>最小成本验证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600" b="0">
                <a:solidFill>
                  <a:srgbClr val="5F6B72"/>
                </a:solidFill>
                <a:latin typeface="微软雅黑"/>
                <a:ea typeface="微软雅黑"/>
              </a:rPr>
              <a:t>几十元的开发板 + 传感器
= 最小可行产品 MVP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657600"/>
            <a:ext cx="5394960" cy="214884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F1F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60119" y="3886200"/>
            <a:ext cx="47548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000" b="1">
                <a:solidFill>
                  <a:srgbClr val="E67E22"/>
                </a:solidFill>
                <a:latin typeface="微软雅黑"/>
                <a:ea typeface="微软雅黑"/>
              </a:rPr>
              <a:t>03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100" b="1">
                <a:solidFill>
                  <a:srgbClr val="2B2B2B"/>
                </a:solidFill>
                <a:latin typeface="微软雅黑"/>
                <a:ea typeface="微软雅黑"/>
              </a:rPr>
              <a:t>软硬结合大趋势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600" b="0">
                <a:solidFill>
                  <a:srgbClr val="5F6B72"/>
                </a:solidFill>
                <a:latin typeface="微软雅黑"/>
                <a:ea typeface="微软雅黑"/>
              </a:rPr>
              <a:t>物联网 / 智能家居 / 机器人
背后都离不开硬件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63640" y="3657600"/>
            <a:ext cx="5394960" cy="214884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F1F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583680" y="3886200"/>
            <a:ext cx="47548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000" b="1">
                <a:solidFill>
                  <a:srgbClr val="E67E22"/>
                </a:solidFill>
                <a:latin typeface="微软雅黑"/>
                <a:ea typeface="微软雅黑"/>
              </a:rPr>
              <a:t>04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100" b="1">
                <a:solidFill>
                  <a:srgbClr val="2B2B2B"/>
                </a:solidFill>
                <a:latin typeface="微软雅黑"/>
                <a:ea typeface="微软雅黑"/>
              </a:rPr>
              <a:t>双创比赛加分项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600" b="0">
                <a:solidFill>
                  <a:srgbClr val="5F6B72"/>
                </a:solidFill>
                <a:latin typeface="微软雅黑"/>
                <a:ea typeface="微软雅黑"/>
              </a:rPr>
              <a:t>"互联网+"、"挑战杯"
青睐软硬结合的项目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0097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91440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200" b="0">
                <a:solidFill>
                  <a:srgbClr val="FFFFFF"/>
                </a:solidFill>
                <a:latin typeface="微软雅黑"/>
                <a:ea typeface="微软雅黑"/>
              </a:rPr>
              <a:t>01 · 认识 Arduino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56032"/>
            <a:ext cx="10789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2600" b="1">
                <a:solidFill>
                  <a:srgbClr val="FFFFFF"/>
                </a:solidFill>
                <a:latin typeface="微软雅黑"/>
                <a:ea typeface="微软雅黑"/>
              </a:rPr>
              <a:t>什么是开源硬件？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804672"/>
            <a:ext cx="822960" cy="4572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40080" y="6355080"/>
            <a:ext cx="10908792" cy="22860"/>
          </a:xfrm>
          <a:prstGeom prst="rect">
            <a:avLst/>
          </a:prstGeom>
          <a:solidFill>
            <a:srgbClr val="F1F4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6419088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100" b="0">
                <a:solidFill>
                  <a:srgbClr val="5F6B72"/>
                </a:solidFill>
                <a:latin typeface="微软雅黑"/>
                <a:ea typeface="微软雅黑"/>
              </a:rPr>
              <a:t>创新创业课程 · Arduino 开源硬件入门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19088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1000"/>
              </a:spcAft>
            </a:pPr>
            <a:r>
              <a:rPr sz="1100" b="0">
                <a:solidFill>
                  <a:srgbClr val="5F6B72"/>
                </a:solidFill>
                <a:latin typeface="微软雅黑"/>
                <a:ea typeface="微软雅黑"/>
              </a:rPr>
              <a:t>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280160"/>
            <a:ext cx="5760720" cy="2834640"/>
          </a:xfrm>
          <a:prstGeom prst="roundRect">
            <a:avLst/>
          </a:prstGeom>
          <a:solidFill>
            <a:srgbClr val="0097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60120" y="1508760"/>
            <a:ext cx="512064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2000" b="1">
                <a:solidFill>
                  <a:srgbClr val="FFFFFF"/>
                </a:solidFill>
                <a:latin typeface="微软雅黑"/>
                <a:ea typeface="微软雅黑"/>
              </a:rPr>
              <a:t>核心定义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700" b="0">
                <a:solidFill>
                  <a:srgbClr val="FFFFFF"/>
                </a:solidFill>
                <a:latin typeface="微软雅黑"/>
                <a:ea typeface="微软雅黑"/>
              </a:rPr>
              <a:t>设计资料全部公开：原理图、PCB、固件源码。任何人都可以学习、修改、复制、分发乃至商用。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500" b="0">
                <a:solidFill>
                  <a:srgbClr val="FFFFFF"/>
                </a:solidFill>
                <a:latin typeface="微软雅黑"/>
                <a:ea typeface="微软雅黑"/>
              </a:rPr>
              <a:t>开源软件 ↔ 开源硬件：Linux / Android  ↔  Arduino / 树莓派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343400"/>
            <a:ext cx="57607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700" b="0">
                <a:solidFill>
                  <a:srgbClr val="2B2B2B"/>
                </a:solidFill>
                <a:latin typeface="微软雅黑"/>
                <a:ea typeface="微软雅黑"/>
              </a:rPr>
              <a:t>•  常见许可证：CC BY-SA、CERN OHL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700" b="0">
                <a:solidFill>
                  <a:srgbClr val="2B2B2B"/>
                </a:solidFill>
                <a:latin typeface="微软雅黑"/>
                <a:ea typeface="微软雅黑"/>
              </a:rPr>
              <a:t>•  商用时需署名，并以相同方式共享你的改进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700" b="1">
                <a:solidFill>
                  <a:srgbClr val="006B70"/>
                </a:solidFill>
                <a:latin typeface="微软雅黑"/>
                <a:ea typeface="微软雅黑"/>
              </a:rPr>
              <a:t>•  意义：站在巨人肩膀上创新，不重复造轮子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0" y="1280160"/>
            <a:ext cx="4663440" cy="192024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F1F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178040" y="1508760"/>
            <a:ext cx="40233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006B70"/>
                </a:solidFill>
                <a:latin typeface="微软雅黑"/>
                <a:ea typeface="微软雅黑"/>
              </a:rPr>
              <a:t>开源软件</a:t>
            </a:r>
          </a:p>
          <a:p>
            <a:pPr algn="ctr">
              <a:spcBef>
                <a:spcPts val="0"/>
              </a:spcBef>
              <a:spcAft>
                <a:spcPts val="1000"/>
              </a:spcAft>
            </a:pPr>
            <a:r>
              <a:rPr sz="1600" b="0">
                <a:solidFill>
                  <a:srgbClr val="5F6B72"/>
                </a:solidFill>
                <a:latin typeface="微软雅黑"/>
                <a:ea typeface="微软雅黑"/>
              </a:rPr>
              <a:t>Linux · Android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78040" y="2743200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1000"/>
              </a:spcAft>
            </a:pPr>
            <a:r>
              <a:rPr sz="2600" b="1">
                <a:solidFill>
                  <a:srgbClr val="E67E22"/>
                </a:solidFill>
                <a:latin typeface="微软雅黑"/>
                <a:ea typeface="微软雅黑"/>
              </a:rPr>
              <a:t>↕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0" y="3291840"/>
            <a:ext cx="4663440" cy="192024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F1F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178040" y="3520440"/>
            <a:ext cx="40233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006B70"/>
                </a:solidFill>
                <a:latin typeface="微软雅黑"/>
                <a:ea typeface="微软雅黑"/>
              </a:rPr>
              <a:t>开源硬件</a:t>
            </a:r>
          </a:p>
          <a:p>
            <a:pPr algn="ctr">
              <a:spcBef>
                <a:spcPts val="0"/>
              </a:spcBef>
              <a:spcAft>
                <a:spcPts val="1000"/>
              </a:spcAft>
            </a:pPr>
            <a:r>
              <a:rPr sz="1600" b="0">
                <a:solidFill>
                  <a:srgbClr val="5F6B72"/>
                </a:solidFill>
                <a:latin typeface="微软雅黑"/>
                <a:ea typeface="微软雅黑"/>
              </a:rPr>
              <a:t>Arduino · 树莓派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0097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91440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200" b="0">
                <a:solidFill>
                  <a:srgbClr val="FFFFFF"/>
                </a:solidFill>
                <a:latin typeface="微软雅黑"/>
                <a:ea typeface="微软雅黑"/>
              </a:rPr>
              <a:t>01 · 认识 Arduino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56032"/>
            <a:ext cx="10789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2600" b="1">
                <a:solidFill>
                  <a:srgbClr val="FFFFFF"/>
                </a:solidFill>
                <a:latin typeface="微软雅黑"/>
                <a:ea typeface="微软雅黑"/>
              </a:rPr>
              <a:t>Arduino 的诞生：一个课堂项目的逆袭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804672"/>
            <a:ext cx="822960" cy="4572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40080" y="6355080"/>
            <a:ext cx="10908792" cy="22860"/>
          </a:xfrm>
          <a:prstGeom prst="rect">
            <a:avLst/>
          </a:prstGeom>
          <a:solidFill>
            <a:srgbClr val="F1F4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6419088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100" b="0">
                <a:solidFill>
                  <a:srgbClr val="5F6B72"/>
                </a:solidFill>
                <a:latin typeface="微软雅黑"/>
                <a:ea typeface="微软雅黑"/>
              </a:rPr>
              <a:t>创新创业课程 · Arduino 开源硬件入门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19088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1000"/>
              </a:spcAft>
            </a:pPr>
            <a:r>
              <a:rPr sz="1100" b="0">
                <a:solidFill>
                  <a:srgbClr val="5F6B72"/>
                </a:solidFill>
                <a:latin typeface="微软雅黑"/>
                <a:ea typeface="微软雅黑"/>
              </a:rPr>
              <a:t>6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097280" y="3017520"/>
            <a:ext cx="9966960" cy="0"/>
          </a:xfrm>
          <a:prstGeom prst="line">
            <a:avLst/>
          </a:prstGeom>
          <a:ln w="50800">
            <a:solidFill>
              <a:srgbClr val="00979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Oval 9"/>
          <p:cNvSpPr/>
          <p:nvPr/>
        </p:nvSpPr>
        <p:spPr>
          <a:xfrm>
            <a:off x="2331720" y="2761488"/>
            <a:ext cx="512064" cy="512064"/>
          </a:xfrm>
          <a:prstGeom prst="ellipse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59" y="3429000"/>
            <a:ext cx="32918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900" b="1">
                <a:solidFill>
                  <a:srgbClr val="E67E22"/>
                </a:solidFill>
                <a:latin typeface="微软雅黑"/>
                <a:ea typeface="微软雅黑"/>
              </a:rPr>
              <a:t>2005</a:t>
            </a:r>
          </a:p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900" b="1">
                <a:solidFill>
                  <a:srgbClr val="2B2B2B"/>
                </a:solidFill>
                <a:latin typeface="微软雅黑"/>
                <a:ea typeface="微软雅黑"/>
              </a:rPr>
              <a:t>意大利伊夫雷亚</a:t>
            </a:r>
          </a:p>
          <a:p>
            <a:pPr algn="ctr">
              <a:spcBef>
                <a:spcPts val="0"/>
              </a:spcBef>
              <a:spcAft>
                <a:spcPts val="1000"/>
              </a:spcAft>
            </a:pPr>
            <a:r>
              <a:rPr sz="1500" b="0">
                <a:solidFill>
                  <a:srgbClr val="5F6B72"/>
                </a:solidFill>
                <a:latin typeface="微软雅黑"/>
                <a:ea typeface="微软雅黑"/>
              </a:rPr>
              <a:t>交互设计学院的课堂项目：
让设计系学生低成本做交互原型</a:t>
            </a:r>
          </a:p>
        </p:txBody>
      </p:sp>
      <p:sp>
        <p:nvSpPr>
          <p:cNvPr id="12" name="Oval 11"/>
          <p:cNvSpPr/>
          <p:nvPr/>
        </p:nvSpPr>
        <p:spPr>
          <a:xfrm>
            <a:off x="6309360" y="2761488"/>
            <a:ext cx="512064" cy="512064"/>
          </a:xfrm>
          <a:prstGeom prst="ellipse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800600" y="3429000"/>
            <a:ext cx="32918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900" b="1">
                <a:solidFill>
                  <a:srgbClr val="E67E22"/>
                </a:solidFill>
                <a:latin typeface="微软雅黑"/>
                <a:ea typeface="微软雅黑"/>
              </a:rPr>
              <a:t>命名</a:t>
            </a:r>
          </a:p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900" b="1">
                <a:solidFill>
                  <a:srgbClr val="2B2B2B"/>
                </a:solidFill>
                <a:latin typeface="微软雅黑"/>
                <a:ea typeface="微软雅黑"/>
              </a:rPr>
              <a:t>一家酒吧的名字</a:t>
            </a:r>
          </a:p>
          <a:p>
            <a:pPr algn="ctr">
              <a:spcBef>
                <a:spcPts val="0"/>
              </a:spcBef>
              <a:spcAft>
                <a:spcPts val="1000"/>
              </a:spcAft>
            </a:pPr>
            <a:r>
              <a:rPr sz="1500" b="0">
                <a:solidFill>
                  <a:srgbClr val="5F6B72"/>
                </a:solidFill>
                <a:latin typeface="微软雅黑"/>
                <a:ea typeface="微软雅黑"/>
              </a:rPr>
              <a:t>"Bar di Re Arduino"
以意大利国王 Arduino 命名</a:t>
            </a:r>
          </a:p>
        </p:txBody>
      </p:sp>
      <p:sp>
        <p:nvSpPr>
          <p:cNvPr id="14" name="Oval 13"/>
          <p:cNvSpPr/>
          <p:nvPr/>
        </p:nvSpPr>
        <p:spPr>
          <a:xfrm>
            <a:off x="10286999" y="2761488"/>
            <a:ext cx="512064" cy="512064"/>
          </a:xfrm>
          <a:prstGeom prst="ellipse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778239" y="3429000"/>
            <a:ext cx="32918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900" b="1">
                <a:solidFill>
                  <a:srgbClr val="E67E22"/>
                </a:solidFill>
                <a:latin typeface="微软雅黑"/>
                <a:ea typeface="微软雅黑"/>
              </a:rPr>
              <a:t>今天</a:t>
            </a:r>
          </a:p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900" b="1">
                <a:solidFill>
                  <a:srgbClr val="2B2B2B"/>
                </a:solidFill>
                <a:latin typeface="微软雅黑"/>
                <a:ea typeface="微软雅黑"/>
              </a:rPr>
              <a:t>全球创客基础设施</a:t>
            </a:r>
          </a:p>
          <a:p>
            <a:pPr algn="ctr">
              <a:spcBef>
                <a:spcPts val="0"/>
              </a:spcBef>
              <a:spcAft>
                <a:spcPts val="1000"/>
              </a:spcAft>
            </a:pPr>
            <a:r>
              <a:rPr sz="1500" b="0">
                <a:solidFill>
                  <a:srgbClr val="5F6B72"/>
                </a:solidFill>
                <a:latin typeface="微软雅黑"/>
                <a:ea typeface="微软雅黑"/>
              </a:rPr>
              <a:t>最大的开源硬件社区
中文教程极其丰富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5394960"/>
            <a:ext cx="10908792" cy="777240"/>
          </a:xfrm>
          <a:prstGeom prst="roundRect">
            <a:avLst/>
          </a:prstGeom>
          <a:solidFill>
            <a:srgbClr val="FDED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14400" y="553212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600" b="1">
                <a:solidFill>
                  <a:srgbClr val="2B2B2B"/>
                </a:solidFill>
                <a:latin typeface="微软雅黑"/>
                <a:ea typeface="微软雅黑"/>
              </a:rPr>
              <a:t>启示：一个为"降低创造门槛"而生的教学工具，变成了全球创客运动的基础设施。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0097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91440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200" b="0">
                <a:solidFill>
                  <a:srgbClr val="FFFFFF"/>
                </a:solidFill>
                <a:latin typeface="微软雅黑"/>
                <a:ea typeface="微软雅黑"/>
              </a:rPr>
              <a:t>01 · 认识 Arduino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56032"/>
            <a:ext cx="10789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2600" b="1">
                <a:solidFill>
                  <a:srgbClr val="FFFFFF"/>
                </a:solidFill>
                <a:latin typeface="微软雅黑"/>
                <a:ea typeface="微软雅黑"/>
              </a:rPr>
              <a:t>为什么选择 Arduino 入门？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804672"/>
            <a:ext cx="822960" cy="4572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40080" y="6355080"/>
            <a:ext cx="10908792" cy="22860"/>
          </a:xfrm>
          <a:prstGeom prst="rect">
            <a:avLst/>
          </a:prstGeom>
          <a:solidFill>
            <a:srgbClr val="F1F4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6419088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100" b="0">
                <a:solidFill>
                  <a:srgbClr val="5F6B72"/>
                </a:solidFill>
                <a:latin typeface="微软雅黑"/>
                <a:ea typeface="微软雅黑"/>
              </a:rPr>
              <a:t>创新创业课程 · Arduino 开源硬件入门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19088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1000"/>
              </a:spcAft>
            </a:pPr>
            <a:r>
              <a:rPr sz="1100" b="0">
                <a:solidFill>
                  <a:srgbClr val="5F6B72"/>
                </a:solidFill>
                <a:latin typeface="微软雅黑"/>
                <a:ea typeface="微软雅黑"/>
              </a:rPr>
              <a:t>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234440"/>
            <a:ext cx="63093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100"/>
              </a:spcAft>
            </a:pPr>
            <a:r>
              <a:rPr sz="2000" b="0">
                <a:solidFill>
                  <a:srgbClr val="2B2B2B"/>
                </a:solidFill>
                <a:latin typeface="微软雅黑"/>
                <a:ea typeface="微软雅黑"/>
              </a:rPr>
              <a:t>门槛低：基于 C 语言的简化编程，不用理解寄存器也能上手</a:t>
            </a:r>
          </a:p>
          <a:p>
            <a:pPr algn="l">
              <a:spcBef>
                <a:spcPts val="0"/>
              </a:spcBef>
              <a:spcAft>
                <a:spcPts val="1100"/>
              </a:spcAft>
            </a:pPr>
            <a:r>
              <a:rPr sz="2000" b="0">
                <a:solidFill>
                  <a:srgbClr val="2B2B2B"/>
                </a:solidFill>
                <a:latin typeface="微软雅黑"/>
                <a:ea typeface="微软雅黑"/>
              </a:rPr>
              <a:t>便宜：兼容版 Uno 二三十元，学生党无压力试错</a:t>
            </a:r>
          </a:p>
          <a:p>
            <a:pPr algn="l">
              <a:spcBef>
                <a:spcPts val="0"/>
              </a:spcBef>
              <a:spcAft>
                <a:spcPts val="1100"/>
              </a:spcAft>
            </a:pPr>
            <a:r>
              <a:rPr sz="2000" b="0">
                <a:solidFill>
                  <a:srgbClr val="2B2B2B"/>
                </a:solidFill>
                <a:latin typeface="微软雅黑"/>
                <a:ea typeface="微软雅黑"/>
              </a:rPr>
              <a:t>社区大：报错搜一下就有答案，库函数拿来即用</a:t>
            </a:r>
          </a:p>
          <a:p>
            <a:pPr algn="l">
              <a:spcBef>
                <a:spcPts val="0"/>
              </a:spcBef>
              <a:spcAft>
                <a:spcPts val="1100"/>
              </a:spcAft>
            </a:pPr>
            <a:r>
              <a:rPr sz="2000" b="0">
                <a:solidFill>
                  <a:srgbClr val="2B2B2B"/>
                </a:solidFill>
                <a:latin typeface="微软雅黑"/>
                <a:ea typeface="微软雅黑"/>
              </a:rPr>
              <a:t>生态全：上百种传感器模块，像"电子乐高"一样拼搭</a:t>
            </a:r>
          </a:p>
          <a:p>
            <a:pPr algn="l">
              <a:spcBef>
                <a:spcPts val="0"/>
              </a:spcBef>
              <a:spcAft>
                <a:spcPts val="1100"/>
              </a:spcAft>
            </a:pPr>
            <a:r>
              <a:rPr sz="2000" b="0">
                <a:solidFill>
                  <a:srgbClr val="2B2B2B"/>
                </a:solidFill>
                <a:latin typeface="微软雅黑"/>
                <a:ea typeface="微软雅黑"/>
              </a:rPr>
              <a:t>可迁移：学会后过渡到 ESP32 物联网、树莓派更轻松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52360" y="1280160"/>
            <a:ext cx="4069080" cy="1874519"/>
          </a:xfrm>
          <a:prstGeom prst="roundRect">
            <a:avLst/>
          </a:prstGeom>
          <a:solidFill>
            <a:srgbClr val="0097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726679" y="1508760"/>
            <a:ext cx="35661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400" b="1">
                <a:solidFill>
                  <a:srgbClr val="FFFFFF"/>
                </a:solidFill>
                <a:latin typeface="微软雅黑"/>
                <a:ea typeface="微软雅黑"/>
              </a:rPr>
              <a:t>¥20+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500" b="0">
                <a:solidFill>
                  <a:srgbClr val="FFFFFF"/>
                </a:solidFill>
                <a:latin typeface="微软雅黑"/>
                <a:ea typeface="微软雅黑"/>
              </a:rPr>
              <a:t>一块兼容板的价格
试错成本极低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52360" y="3429000"/>
            <a:ext cx="4069080" cy="1874519"/>
          </a:xfrm>
          <a:prstGeom prst="roundRect">
            <a:avLst/>
          </a:prstGeom>
          <a:solidFill>
            <a:srgbClr val="0097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726679" y="3657600"/>
            <a:ext cx="35661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400" b="1">
                <a:solidFill>
                  <a:srgbClr val="FFFFFF"/>
                </a:solidFill>
                <a:latin typeface="微软雅黑"/>
                <a:ea typeface="微软雅黑"/>
              </a:rPr>
              <a:t>100+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500" b="0">
                <a:solidFill>
                  <a:srgbClr val="FFFFFF"/>
                </a:solidFill>
                <a:latin typeface="微软雅黑"/>
                <a:ea typeface="微软雅黑"/>
              </a:rPr>
              <a:t>即插即用传感器模块
想做什么拼什么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0097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91440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200" b="0">
                <a:solidFill>
                  <a:srgbClr val="FFFFFF"/>
                </a:solidFill>
                <a:latin typeface="微软雅黑"/>
                <a:ea typeface="微软雅黑"/>
              </a:rPr>
              <a:t>01 · 认识 Arduino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56032"/>
            <a:ext cx="10789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2600" b="1">
                <a:solidFill>
                  <a:srgbClr val="FFFFFF"/>
                </a:solidFill>
                <a:latin typeface="微软雅黑"/>
                <a:ea typeface="微软雅黑"/>
              </a:rPr>
              <a:t>认识你的第一块板：Uno R3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804672"/>
            <a:ext cx="822960" cy="4572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40080" y="6355080"/>
            <a:ext cx="10908792" cy="22860"/>
          </a:xfrm>
          <a:prstGeom prst="rect">
            <a:avLst/>
          </a:prstGeom>
          <a:solidFill>
            <a:srgbClr val="F1F4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6419088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100" b="0">
                <a:solidFill>
                  <a:srgbClr val="5F6B72"/>
                </a:solidFill>
                <a:latin typeface="微软雅黑"/>
                <a:ea typeface="微软雅黑"/>
              </a:rPr>
              <a:t>创新创业课程 · Arduino 开源硬件入门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19088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1000"/>
              </a:spcAft>
            </a:pPr>
            <a:r>
              <a:rPr sz="1100" b="0">
                <a:solidFill>
                  <a:srgbClr val="5F6B72"/>
                </a:solidFill>
                <a:latin typeface="微软雅黑"/>
                <a:ea typeface="微软雅黑"/>
              </a:rPr>
              <a:t>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188719" y="2103120"/>
            <a:ext cx="4206240" cy="2834640"/>
          </a:xfrm>
          <a:prstGeom prst="roundRect">
            <a:avLst/>
          </a:prstGeom>
          <a:solidFill>
            <a:srgbClr val="1E88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1417319" y="2331720"/>
            <a:ext cx="868680" cy="548640"/>
          </a:xfrm>
          <a:prstGeom prst="rect">
            <a:avLst/>
          </a:prstGeom>
          <a:solidFill>
            <a:srgbClr val="C0C5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617720" y="2331720"/>
            <a:ext cx="777240" cy="54864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2880360" y="3200400"/>
            <a:ext cx="1371600" cy="96012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880360" y="347472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1000"/>
              </a:spcAft>
            </a:pPr>
            <a:r>
              <a:rPr sz="1100" b="1">
                <a:solidFill>
                  <a:srgbClr val="FFFFFF"/>
                </a:solidFill>
                <a:latin typeface="微软雅黑"/>
                <a:ea typeface="微软雅黑"/>
              </a:rPr>
              <a:t>ATmega328P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148839" y="2743200"/>
            <a:ext cx="256032" cy="256032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1554480" y="4617720"/>
            <a:ext cx="164592" cy="164592"/>
          </a:xfrm>
          <a:prstGeom prst="rect">
            <a:avLst/>
          </a:prstGeom>
          <a:solidFill>
            <a:srgbClr val="004E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1865376" y="4617720"/>
            <a:ext cx="164592" cy="164592"/>
          </a:xfrm>
          <a:prstGeom prst="rect">
            <a:avLst/>
          </a:prstGeom>
          <a:solidFill>
            <a:srgbClr val="004E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2176272" y="4617720"/>
            <a:ext cx="164592" cy="164592"/>
          </a:xfrm>
          <a:prstGeom prst="rect">
            <a:avLst/>
          </a:prstGeom>
          <a:solidFill>
            <a:srgbClr val="004E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2487168" y="4617720"/>
            <a:ext cx="164592" cy="164592"/>
          </a:xfrm>
          <a:prstGeom prst="rect">
            <a:avLst/>
          </a:prstGeom>
          <a:solidFill>
            <a:srgbClr val="004E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2798064" y="4617720"/>
            <a:ext cx="164592" cy="164592"/>
          </a:xfrm>
          <a:prstGeom prst="rect">
            <a:avLst/>
          </a:prstGeom>
          <a:solidFill>
            <a:srgbClr val="004E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3108960" y="4617720"/>
            <a:ext cx="164592" cy="164592"/>
          </a:xfrm>
          <a:prstGeom prst="rect">
            <a:avLst/>
          </a:prstGeom>
          <a:solidFill>
            <a:srgbClr val="004E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3419856" y="4617720"/>
            <a:ext cx="164592" cy="164592"/>
          </a:xfrm>
          <a:prstGeom prst="rect">
            <a:avLst/>
          </a:prstGeom>
          <a:solidFill>
            <a:srgbClr val="004E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3730752" y="4617720"/>
            <a:ext cx="164592" cy="164592"/>
          </a:xfrm>
          <a:prstGeom prst="rect">
            <a:avLst/>
          </a:prstGeom>
          <a:solidFill>
            <a:srgbClr val="004E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4983480" y="3154680"/>
            <a:ext cx="164592" cy="164592"/>
          </a:xfrm>
          <a:prstGeom prst="rect">
            <a:avLst/>
          </a:prstGeom>
          <a:solidFill>
            <a:srgbClr val="004E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4983480" y="3429000"/>
            <a:ext cx="164592" cy="164592"/>
          </a:xfrm>
          <a:prstGeom prst="rect">
            <a:avLst/>
          </a:prstGeom>
          <a:solidFill>
            <a:srgbClr val="004E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4983480" y="3703320"/>
            <a:ext cx="164592" cy="164592"/>
          </a:xfrm>
          <a:prstGeom prst="rect">
            <a:avLst/>
          </a:prstGeom>
          <a:solidFill>
            <a:srgbClr val="004E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4983480" y="3977639"/>
            <a:ext cx="164592" cy="164592"/>
          </a:xfrm>
          <a:prstGeom prst="rect">
            <a:avLst/>
          </a:prstGeom>
          <a:solidFill>
            <a:srgbClr val="004E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4983480" y="4251960"/>
            <a:ext cx="164592" cy="164592"/>
          </a:xfrm>
          <a:prstGeom prst="rect">
            <a:avLst/>
          </a:prstGeom>
          <a:solidFill>
            <a:srgbClr val="004E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4983480" y="4526280"/>
            <a:ext cx="164592" cy="164592"/>
          </a:xfrm>
          <a:prstGeom prst="rect">
            <a:avLst/>
          </a:prstGeom>
          <a:solidFill>
            <a:srgbClr val="004E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29" name="Connector 28"/>
          <p:cNvCxnSpPr/>
          <p:nvPr/>
        </p:nvCxnSpPr>
        <p:spPr>
          <a:xfrm flipH="1">
            <a:off x="2834639" y="5074920"/>
            <a:ext cx="1371601" cy="0"/>
          </a:xfrm>
          <a:prstGeom prst="line">
            <a:avLst/>
          </a:prstGeom>
          <a:ln w="25400">
            <a:solidFill>
              <a:srgbClr val="00979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4663440" y="5349240"/>
            <a:ext cx="1097280" cy="0"/>
          </a:xfrm>
          <a:prstGeom prst="line">
            <a:avLst/>
          </a:prstGeom>
          <a:ln w="25400">
            <a:solidFill>
              <a:srgbClr val="00979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H="1">
            <a:off x="2651760" y="5532120"/>
            <a:ext cx="1280160" cy="91440"/>
          </a:xfrm>
          <a:prstGeom prst="line">
            <a:avLst/>
          </a:prstGeom>
          <a:ln w="25400">
            <a:solidFill>
              <a:srgbClr val="00979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1554480" y="420624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1000"/>
              </a:spcAft>
            </a:pPr>
            <a:r>
              <a:rPr sz="1100" b="1">
                <a:solidFill>
                  <a:srgbClr val="FFFFFF"/>
                </a:solidFill>
                <a:latin typeface="微软雅黑"/>
                <a:ea typeface="微软雅黑"/>
              </a:rPr>
              <a:t>ARDUINO UNO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1519" y="1463039"/>
            <a:ext cx="1463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300" b="0">
                <a:solidFill>
                  <a:srgbClr val="2B2B2B"/>
                </a:solidFill>
                <a:latin typeface="微软雅黑"/>
                <a:ea typeface="微软雅黑"/>
              </a:rPr>
              <a:t>USB 接口（供电+烧录）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1463040" y="1828800"/>
            <a:ext cx="320040" cy="457200"/>
          </a:xfrm>
          <a:prstGeom prst="line">
            <a:avLst/>
          </a:prstGeom>
          <a:ln w="15875">
            <a:solidFill>
              <a:srgbClr val="5F6B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Oval 34"/>
          <p:cNvSpPr/>
          <p:nvPr/>
        </p:nvSpPr>
        <p:spPr>
          <a:xfrm>
            <a:off x="1741932" y="2244852"/>
            <a:ext cx="82296" cy="82296"/>
          </a:xfrm>
          <a:prstGeom prst="ellipse">
            <a:avLst/>
          </a:prstGeom>
          <a:solidFill>
            <a:srgbClr val="5F6B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4572000" y="1463039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300" b="0">
                <a:solidFill>
                  <a:srgbClr val="2B2B2B"/>
                </a:solidFill>
                <a:latin typeface="微软雅黑"/>
                <a:ea typeface="微软雅黑"/>
              </a:rPr>
              <a:t>直流电源接口（7–12V）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5074920" y="1828800"/>
            <a:ext cx="0" cy="457200"/>
          </a:xfrm>
          <a:prstGeom prst="line">
            <a:avLst/>
          </a:prstGeom>
          <a:ln w="15875">
            <a:solidFill>
              <a:srgbClr val="5F6B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Oval 37"/>
          <p:cNvSpPr/>
          <p:nvPr/>
        </p:nvSpPr>
        <p:spPr>
          <a:xfrm>
            <a:off x="5033772" y="2244852"/>
            <a:ext cx="82296" cy="82296"/>
          </a:xfrm>
          <a:prstGeom prst="ellipse">
            <a:avLst/>
          </a:prstGeom>
          <a:solidFill>
            <a:srgbClr val="5F6B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5623560" y="3154680"/>
            <a:ext cx="1463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300" b="0">
                <a:solidFill>
                  <a:srgbClr val="2B2B2B"/>
                </a:solidFill>
                <a:latin typeface="微软雅黑"/>
                <a:ea typeface="微软雅黑"/>
              </a:rPr>
              <a:t>模拟引脚 A0~A5</a:t>
            </a:r>
          </a:p>
        </p:txBody>
      </p:sp>
      <p:cxnSp>
        <p:nvCxnSpPr>
          <p:cNvPr id="40" name="Connector 39"/>
          <p:cNvCxnSpPr/>
          <p:nvPr/>
        </p:nvCxnSpPr>
        <p:spPr>
          <a:xfrm flipH="1">
            <a:off x="5166360" y="3474720"/>
            <a:ext cx="457200" cy="228600"/>
          </a:xfrm>
          <a:prstGeom prst="line">
            <a:avLst/>
          </a:prstGeom>
          <a:ln w="15875">
            <a:solidFill>
              <a:srgbClr val="5F6B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Oval 40"/>
          <p:cNvSpPr/>
          <p:nvPr/>
        </p:nvSpPr>
        <p:spPr>
          <a:xfrm>
            <a:off x="5125212" y="3662172"/>
            <a:ext cx="82296" cy="82296"/>
          </a:xfrm>
          <a:prstGeom prst="ellipse">
            <a:avLst/>
          </a:prstGeom>
          <a:solidFill>
            <a:srgbClr val="5F6B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4434840" y="3337560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300" b="0">
                <a:solidFill>
                  <a:srgbClr val="2B2B2B"/>
                </a:solidFill>
                <a:latin typeface="微软雅黑"/>
                <a:ea typeface="微软雅黑"/>
              </a:rPr>
              <a:t>主控芯片</a:t>
            </a:r>
          </a:p>
        </p:txBody>
      </p:sp>
      <p:cxnSp>
        <p:nvCxnSpPr>
          <p:cNvPr id="43" name="Connector 42"/>
          <p:cNvCxnSpPr/>
          <p:nvPr/>
        </p:nvCxnSpPr>
        <p:spPr>
          <a:xfrm flipH="1">
            <a:off x="4251960" y="3657600"/>
            <a:ext cx="182880" cy="45720"/>
          </a:xfrm>
          <a:prstGeom prst="line">
            <a:avLst/>
          </a:prstGeom>
          <a:ln w="15875">
            <a:solidFill>
              <a:srgbClr val="5F6B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Oval 43"/>
          <p:cNvSpPr/>
          <p:nvPr/>
        </p:nvSpPr>
        <p:spPr>
          <a:xfrm>
            <a:off x="4210812" y="3662172"/>
            <a:ext cx="82296" cy="82296"/>
          </a:xfrm>
          <a:prstGeom prst="ellipse">
            <a:avLst/>
          </a:prstGeom>
          <a:solidFill>
            <a:srgbClr val="5F6B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640080" y="3200400"/>
            <a:ext cx="1280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300" b="0">
                <a:solidFill>
                  <a:srgbClr val="2B2B2B"/>
                </a:solidFill>
                <a:latin typeface="微软雅黑"/>
                <a:ea typeface="微软雅黑"/>
              </a:rPr>
              <a:t>复位按钮</a:t>
            </a:r>
          </a:p>
        </p:txBody>
      </p:sp>
      <p:cxnSp>
        <p:nvCxnSpPr>
          <p:cNvPr id="46" name="Connector 45"/>
          <p:cNvCxnSpPr/>
          <p:nvPr/>
        </p:nvCxnSpPr>
        <p:spPr>
          <a:xfrm flipV="1">
            <a:off x="1828800" y="2898648"/>
            <a:ext cx="347472" cy="512063"/>
          </a:xfrm>
          <a:prstGeom prst="line">
            <a:avLst/>
          </a:prstGeom>
          <a:ln w="15875">
            <a:solidFill>
              <a:srgbClr val="5F6B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Oval 46"/>
          <p:cNvSpPr/>
          <p:nvPr/>
        </p:nvSpPr>
        <p:spPr>
          <a:xfrm>
            <a:off x="2135124" y="2857500"/>
            <a:ext cx="82296" cy="82296"/>
          </a:xfrm>
          <a:prstGeom prst="ellipse">
            <a:avLst/>
          </a:prstGeom>
          <a:solidFill>
            <a:srgbClr val="5F6B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1188719" y="5303520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300" b="0">
                <a:solidFill>
                  <a:srgbClr val="2B2B2B"/>
                </a:solidFill>
                <a:latin typeface="微软雅黑"/>
                <a:ea typeface="微软雅黑"/>
              </a:rPr>
              <a:t>数字引脚 0~13（含 6 路 PWM~）</a:t>
            </a:r>
          </a:p>
        </p:txBody>
      </p:sp>
      <p:cxnSp>
        <p:nvCxnSpPr>
          <p:cNvPr id="49" name="Connector 48"/>
          <p:cNvCxnSpPr/>
          <p:nvPr/>
        </p:nvCxnSpPr>
        <p:spPr>
          <a:xfrm flipV="1">
            <a:off x="2194560" y="5029200"/>
            <a:ext cx="274320" cy="274320"/>
          </a:xfrm>
          <a:prstGeom prst="line">
            <a:avLst/>
          </a:prstGeom>
          <a:ln w="15875">
            <a:solidFill>
              <a:srgbClr val="5F6B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Oval 49"/>
          <p:cNvSpPr/>
          <p:nvPr/>
        </p:nvSpPr>
        <p:spPr>
          <a:xfrm>
            <a:off x="2427732" y="4988052"/>
            <a:ext cx="82296" cy="82296"/>
          </a:xfrm>
          <a:prstGeom prst="ellipse">
            <a:avLst/>
          </a:prstGeom>
          <a:solidFill>
            <a:srgbClr val="5F6B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6949440" y="1325880"/>
            <a:ext cx="45720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2100" b="1">
                <a:solidFill>
                  <a:srgbClr val="006B70"/>
                </a:solidFill>
                <a:latin typeface="微软雅黑"/>
                <a:ea typeface="微软雅黑"/>
              </a:rPr>
              <a:t>Uno R3 核心参数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700" b="0">
                <a:solidFill>
                  <a:srgbClr val="2B2B2B"/>
                </a:solidFill>
                <a:latin typeface="微软雅黑"/>
                <a:ea typeface="微软雅黑"/>
              </a:rPr>
              <a:t>•  主控：ATmega328P，16MHz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700" b="0">
                <a:solidFill>
                  <a:srgbClr val="2B2B2B"/>
                </a:solidFill>
                <a:latin typeface="微软雅黑"/>
                <a:ea typeface="微软雅黑"/>
              </a:rPr>
              <a:t>•  14 路数字 IO（含 6 路 PWM 输出）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700" b="0">
                <a:solidFill>
                  <a:srgbClr val="2B2B2B"/>
                </a:solidFill>
                <a:latin typeface="微软雅黑"/>
                <a:ea typeface="微软雅黑"/>
              </a:rPr>
              <a:t>•  6 路模拟输入（A0~A5）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700" b="0">
                <a:solidFill>
                  <a:srgbClr val="2B2B2B"/>
                </a:solidFill>
                <a:latin typeface="微软雅黑"/>
                <a:ea typeface="微软雅黑"/>
              </a:rPr>
              <a:t>•  工作电压 5V，单引脚电流 &lt; 20mA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700" b="0">
                <a:solidFill>
                  <a:srgbClr val="2B2B2B"/>
                </a:solidFill>
                <a:latin typeface="微软雅黑"/>
                <a:ea typeface="微软雅黑"/>
              </a:rPr>
              <a:t>•  USB 供电，或 7–12V 外接电源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6949440" y="5394960"/>
            <a:ext cx="4572000" cy="777240"/>
          </a:xfrm>
          <a:prstGeom prst="roundRect">
            <a:avLst/>
          </a:prstGeom>
          <a:solidFill>
            <a:srgbClr val="FDED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7223760" y="5513832"/>
            <a:ext cx="4114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500" b="1">
                <a:solidFill>
                  <a:srgbClr val="2B2B2B"/>
                </a:solidFill>
                <a:latin typeface="微软雅黑"/>
                <a:ea typeface="微软雅黑"/>
              </a:rPr>
              <a:t>第一块板，直接选 Uno R3 入门套件（约 ¥60–90）。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0097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91440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200" b="0">
                <a:solidFill>
                  <a:srgbClr val="FFFFFF"/>
                </a:solidFill>
                <a:latin typeface="微软雅黑"/>
                <a:ea typeface="微软雅黑"/>
              </a:rPr>
              <a:t>01 · 认识 Arduino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56032"/>
            <a:ext cx="10789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2600" b="1">
                <a:solidFill>
                  <a:srgbClr val="FFFFFF"/>
                </a:solidFill>
                <a:latin typeface="微软雅黑"/>
                <a:ea typeface="微软雅黑"/>
              </a:rPr>
              <a:t>主流开发板一览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804672"/>
            <a:ext cx="822960" cy="4572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40080" y="6355080"/>
            <a:ext cx="10908792" cy="22860"/>
          </a:xfrm>
          <a:prstGeom prst="rect">
            <a:avLst/>
          </a:prstGeom>
          <a:solidFill>
            <a:srgbClr val="F1F4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6419088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100" b="0">
                <a:solidFill>
                  <a:srgbClr val="5F6B72"/>
                </a:solidFill>
                <a:latin typeface="微软雅黑"/>
                <a:ea typeface="微软雅黑"/>
              </a:rPr>
              <a:t>创新创业课程 · Arduino 开源硬件入门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19088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1000"/>
              </a:spcAft>
            </a:pPr>
            <a:r>
              <a:rPr sz="1100" b="0">
                <a:solidFill>
                  <a:srgbClr val="5F6B72"/>
                </a:solidFill>
                <a:latin typeface="微软雅黑"/>
                <a:ea typeface="微软雅黑"/>
              </a:rPr>
              <a:t>9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40080" y="1325880"/>
          <a:ext cx="10908792" cy="429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3911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716280"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sz="17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开发板</a:t>
                      </a:r>
                    </a:p>
                  </a:txBody>
                  <a:tcPr>
                    <a:solidFill>
                      <a:srgbClr val="00979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sz="17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主控芯片</a:t>
                      </a:r>
                    </a:p>
                  </a:txBody>
                  <a:tcPr>
                    <a:solidFill>
                      <a:srgbClr val="00979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sz="17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特点</a:t>
                      </a:r>
                    </a:p>
                  </a:txBody>
                  <a:tcPr>
                    <a:solidFill>
                      <a:srgbClr val="00979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sz="17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参考价</a:t>
                      </a:r>
                    </a:p>
                  </a:txBody>
                  <a:tcPr>
                    <a:solidFill>
                      <a:srgbClr val="00979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sz="17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适合人群</a:t>
                      </a:r>
                    </a:p>
                  </a:txBody>
                  <a:tcPr>
                    <a:solidFill>
                      <a:srgbClr val="00979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16280"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sz="1600" b="0">
                          <a:solidFill>
                            <a:srgbClr val="2B2B2B"/>
                          </a:solidFill>
                          <a:latin typeface="微软雅黑"/>
                          <a:ea typeface="微软雅黑"/>
                        </a:rPr>
                        <a:t>Uno R3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sz="1600" b="0">
                          <a:solidFill>
                            <a:srgbClr val="2B2B2B"/>
                          </a:solidFill>
                          <a:latin typeface="微软雅黑"/>
                          <a:ea typeface="微软雅黑"/>
                        </a:rPr>
                        <a:t>ATmega328P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sz="1600" b="0">
                          <a:solidFill>
                            <a:srgbClr val="2B2B2B"/>
                          </a:solidFill>
                          <a:latin typeface="微软雅黑"/>
                          <a:ea typeface="微软雅黑"/>
                        </a:rPr>
                        <a:t>接口丰富，教程最多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sz="1600" b="0">
                          <a:solidFill>
                            <a:srgbClr val="2B2B2B"/>
                          </a:solidFill>
                          <a:latin typeface="微软雅黑"/>
                          <a:ea typeface="微软雅黑"/>
                        </a:rPr>
                        <a:t>¥25–60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sz="1600" b="0">
                          <a:solidFill>
                            <a:srgbClr val="2B2B2B"/>
                          </a:solidFill>
                          <a:latin typeface="微软雅黑"/>
                          <a:ea typeface="微软雅黑"/>
                        </a:rPr>
                        <a:t>入门首选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16280"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sz="1600" b="0">
                          <a:solidFill>
                            <a:srgbClr val="2B2B2B"/>
                          </a:solidFill>
                          <a:latin typeface="微软雅黑"/>
                          <a:ea typeface="微软雅黑"/>
                        </a:rPr>
                        <a:t>Nano</a:t>
                      </a:r>
                    </a:p>
                  </a:txBody>
                  <a:tcPr>
                    <a:solidFill>
                      <a:srgbClr val="F1F4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sz="1600" b="0">
                          <a:solidFill>
                            <a:srgbClr val="2B2B2B"/>
                          </a:solidFill>
                          <a:latin typeface="微软雅黑"/>
                          <a:ea typeface="微软雅黑"/>
                        </a:rPr>
                        <a:t>ATmega328P</a:t>
                      </a:r>
                    </a:p>
                  </a:txBody>
                  <a:tcPr>
                    <a:solidFill>
                      <a:srgbClr val="F1F4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sz="1600" b="0">
                          <a:solidFill>
                            <a:srgbClr val="2B2B2B"/>
                          </a:solidFill>
                          <a:latin typeface="微软雅黑"/>
                          <a:ea typeface="微软雅黑"/>
                        </a:rPr>
                        <a:t>体积小，可插面包板</a:t>
                      </a:r>
                    </a:p>
                  </a:txBody>
                  <a:tcPr>
                    <a:solidFill>
                      <a:srgbClr val="F1F4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sz="1600" b="0">
                          <a:solidFill>
                            <a:srgbClr val="2B2B2B"/>
                          </a:solidFill>
                          <a:latin typeface="微软雅黑"/>
                          <a:ea typeface="微软雅黑"/>
                        </a:rPr>
                        <a:t>¥15–35</a:t>
                      </a:r>
                    </a:p>
                  </a:txBody>
                  <a:tcPr>
                    <a:solidFill>
                      <a:srgbClr val="F1F4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sz="1600" b="0">
                          <a:solidFill>
                            <a:srgbClr val="2B2B2B"/>
                          </a:solidFill>
                          <a:latin typeface="微软雅黑"/>
                          <a:ea typeface="微软雅黑"/>
                        </a:rPr>
                        <a:t>小型项目</a:t>
                      </a:r>
                    </a:p>
                  </a:txBody>
                  <a:tcPr>
                    <a:solidFill>
                      <a:srgbClr val="F1F4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16280"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sz="1600" b="0">
                          <a:solidFill>
                            <a:srgbClr val="2B2B2B"/>
                          </a:solidFill>
                          <a:latin typeface="微软雅黑"/>
                          <a:ea typeface="微软雅黑"/>
                        </a:rPr>
                        <a:t>Mega 2560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sz="1600" b="0">
                          <a:solidFill>
                            <a:srgbClr val="2B2B2B"/>
                          </a:solidFill>
                          <a:latin typeface="微软雅黑"/>
                          <a:ea typeface="微软雅黑"/>
                        </a:rPr>
                        <a:t>ATmega2560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sz="1600" b="0">
                          <a:solidFill>
                            <a:srgbClr val="2B2B2B"/>
                          </a:solidFill>
                          <a:latin typeface="微软雅黑"/>
                          <a:ea typeface="微软雅黑"/>
                        </a:rPr>
                        <a:t>引脚多（54 数字/16 模拟）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sz="1600" b="0">
                          <a:solidFill>
                            <a:srgbClr val="2B2B2B"/>
                          </a:solidFill>
                          <a:latin typeface="微软雅黑"/>
                          <a:ea typeface="微软雅黑"/>
                        </a:rPr>
                        <a:t>¥50–90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sz="1600" b="0">
                          <a:solidFill>
                            <a:srgbClr val="2B2B2B"/>
                          </a:solidFill>
                          <a:latin typeface="微软雅黑"/>
                          <a:ea typeface="微软雅黑"/>
                        </a:rPr>
                        <a:t>引脚不够用时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16280"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sz="1600" b="0">
                          <a:solidFill>
                            <a:srgbClr val="2B2B2B"/>
                          </a:solidFill>
                          <a:latin typeface="微软雅黑"/>
                          <a:ea typeface="微软雅黑"/>
                        </a:rPr>
                        <a:t>ESP32</a:t>
                      </a:r>
                    </a:p>
                  </a:txBody>
                  <a:tcPr>
                    <a:solidFill>
                      <a:srgbClr val="F1F4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sz="1600" b="0">
                          <a:solidFill>
                            <a:srgbClr val="2B2B2B"/>
                          </a:solidFill>
                          <a:latin typeface="微软雅黑"/>
                          <a:ea typeface="微软雅黑"/>
                        </a:rPr>
                        <a:t>双核 240MHz</a:t>
                      </a:r>
                    </a:p>
                  </a:txBody>
                  <a:tcPr>
                    <a:solidFill>
                      <a:srgbClr val="F1F4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sz="1600" b="0">
                          <a:solidFill>
                            <a:srgbClr val="2B2B2B"/>
                          </a:solidFill>
                          <a:latin typeface="微软雅黑"/>
                          <a:ea typeface="微软雅黑"/>
                        </a:rPr>
                        <a:t>WiFi + 蓝牙，性能强</a:t>
                      </a:r>
                    </a:p>
                  </a:txBody>
                  <a:tcPr>
                    <a:solidFill>
                      <a:srgbClr val="F1F4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sz="1600" b="0">
                          <a:solidFill>
                            <a:srgbClr val="2B2B2B"/>
                          </a:solidFill>
                          <a:latin typeface="微软雅黑"/>
                          <a:ea typeface="微软雅黑"/>
                        </a:rPr>
                        <a:t>¥25–45</a:t>
                      </a:r>
                    </a:p>
                  </a:txBody>
                  <a:tcPr>
                    <a:solidFill>
                      <a:srgbClr val="F1F4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sz="1600" b="0">
                          <a:solidFill>
                            <a:srgbClr val="2B2B2B"/>
                          </a:solidFill>
                          <a:latin typeface="微软雅黑"/>
                          <a:ea typeface="微软雅黑"/>
                        </a:rPr>
                        <a:t>物联网项目</a:t>
                      </a:r>
                    </a:p>
                  </a:txBody>
                  <a:tcPr>
                    <a:solidFill>
                      <a:srgbClr val="F1F4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16280"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sz="1600" b="0">
                          <a:solidFill>
                            <a:srgbClr val="2B2B2B"/>
                          </a:solidFill>
                          <a:latin typeface="微软雅黑"/>
                          <a:ea typeface="微软雅黑"/>
                        </a:rPr>
                        <a:t>ESP8266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sz="1600" b="0">
                          <a:solidFill>
                            <a:srgbClr val="2B2B2B"/>
                          </a:solidFill>
                          <a:latin typeface="微软雅黑"/>
                          <a:ea typeface="微软雅黑"/>
                        </a:rPr>
                        <a:t>80MHz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sz="1600" b="0">
                          <a:solidFill>
                            <a:srgbClr val="2B2B2B"/>
                          </a:solidFill>
                          <a:latin typeface="微软雅黑"/>
                          <a:ea typeface="微软雅黑"/>
                        </a:rPr>
                        <a:t>低成本 WiFi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sz="1600" b="0">
                          <a:solidFill>
                            <a:srgbClr val="2B2B2B"/>
                          </a:solidFill>
                          <a:latin typeface="微软雅黑"/>
                          <a:ea typeface="微软雅黑"/>
                        </a:rPr>
                        <a:t>¥18–30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sz="1600" b="0">
                          <a:solidFill>
                            <a:srgbClr val="2B2B2B"/>
                          </a:solidFill>
                          <a:latin typeface="微软雅黑"/>
                          <a:ea typeface="微软雅黑"/>
                        </a:rPr>
                        <a:t>简单联网应用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40080" y="5806440"/>
            <a:ext cx="1090879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500" b="0">
                <a:solidFill>
                  <a:srgbClr val="5F6B72"/>
                </a:solidFill>
                <a:latin typeface="微软雅黑"/>
                <a:ea typeface="微软雅黑"/>
              </a:rPr>
              <a:t>一句话建议：先玩透 Uno，再按需升级 ESP32 做联网项目。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0097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91440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200" b="0">
                <a:solidFill>
                  <a:srgbClr val="FFFFFF"/>
                </a:solidFill>
                <a:latin typeface="微软雅黑"/>
                <a:ea typeface="微软雅黑"/>
              </a:rPr>
              <a:t>01 · 认识 Arduino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56032"/>
            <a:ext cx="10789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2600" b="1">
                <a:solidFill>
                  <a:srgbClr val="FFFFFF"/>
                </a:solidFill>
                <a:latin typeface="微软雅黑"/>
                <a:ea typeface="微软雅黑"/>
              </a:rPr>
              <a:t>常用元器件速览：输入 · 输出 · 连接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804672"/>
            <a:ext cx="822960" cy="4572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40080" y="6355080"/>
            <a:ext cx="10908792" cy="22860"/>
          </a:xfrm>
          <a:prstGeom prst="rect">
            <a:avLst/>
          </a:prstGeom>
          <a:solidFill>
            <a:srgbClr val="F1F4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6419088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100" b="0">
                <a:solidFill>
                  <a:srgbClr val="5F6B72"/>
                </a:solidFill>
                <a:latin typeface="微软雅黑"/>
                <a:ea typeface="微软雅黑"/>
              </a:rPr>
              <a:t>创新创业课程 · Arduino 开源硬件入门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19088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1000"/>
              </a:spcAft>
            </a:pPr>
            <a:r>
              <a:rPr sz="1100" b="0">
                <a:solidFill>
                  <a:srgbClr val="5F6B72"/>
                </a:solidFill>
                <a:latin typeface="微软雅黑"/>
                <a:ea typeface="微软雅黑"/>
              </a:rPr>
              <a:t>10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280160"/>
            <a:ext cx="3520440" cy="48006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F1F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" y="1481328"/>
            <a:ext cx="3017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800" b="1">
                <a:solidFill>
                  <a:srgbClr val="00979D"/>
                </a:solidFill>
                <a:latin typeface="微软雅黑"/>
                <a:ea typeface="微软雅黑"/>
              </a:rPr>
              <a:t>输入：传感器（感知世界）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103120"/>
            <a:ext cx="301752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0">
                <a:solidFill>
                  <a:srgbClr val="2B2B2B"/>
                </a:solidFill>
                <a:latin typeface="微软雅黑"/>
                <a:ea typeface="微软雅黑"/>
              </a:rPr>
              <a:t>•  超声波 HC-SR04：测距离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0">
                <a:solidFill>
                  <a:srgbClr val="2B2B2B"/>
                </a:solidFill>
                <a:latin typeface="微软雅黑"/>
                <a:ea typeface="微软雅黑"/>
              </a:rPr>
              <a:t>•  DHT11：温度 + 湿度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0">
                <a:solidFill>
                  <a:srgbClr val="2B2B2B"/>
                </a:solidFill>
                <a:latin typeface="微软雅黑"/>
                <a:ea typeface="微软雅黑"/>
              </a:rPr>
              <a:t>•  土壤湿度：浇花必备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0">
                <a:solidFill>
                  <a:srgbClr val="2B2B2B"/>
                </a:solidFill>
                <a:latin typeface="微软雅黑"/>
                <a:ea typeface="微软雅黑"/>
              </a:rPr>
              <a:t>•  光敏电阻：感知光线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0">
                <a:solidFill>
                  <a:srgbClr val="2B2B2B"/>
                </a:solidFill>
                <a:latin typeface="微软雅黑"/>
                <a:ea typeface="微软雅黑"/>
              </a:rPr>
              <a:t>•  人体红外：检测有人经过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0">
                <a:solidFill>
                  <a:srgbClr val="2B2B2B"/>
                </a:solidFill>
                <a:latin typeface="微软雅黑"/>
                <a:ea typeface="微软雅黑"/>
              </a:rPr>
              <a:t>•  按键 / 电位器：人机交互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43400" y="1280160"/>
            <a:ext cx="3520440" cy="48006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F1F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617720" y="1481328"/>
            <a:ext cx="3017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800" b="1">
                <a:solidFill>
                  <a:srgbClr val="E67E22"/>
                </a:solidFill>
                <a:latin typeface="微软雅黑"/>
                <a:ea typeface="微软雅黑"/>
              </a:rPr>
              <a:t>输出：执行器（改变世界）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7720" y="2103120"/>
            <a:ext cx="301752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0">
                <a:solidFill>
                  <a:srgbClr val="2B2B2B"/>
                </a:solidFill>
                <a:latin typeface="微软雅黑"/>
                <a:ea typeface="微软雅黑"/>
              </a:rPr>
              <a:t>•  LED：最基础的输出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0">
                <a:solidFill>
                  <a:srgbClr val="2B2B2B"/>
                </a:solidFill>
                <a:latin typeface="微软雅黑"/>
                <a:ea typeface="微软雅黑"/>
              </a:rPr>
              <a:t>•  有源蜂鸣器：发声报警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0">
                <a:solidFill>
                  <a:srgbClr val="2B2B2B"/>
                </a:solidFill>
                <a:latin typeface="微软雅黑"/>
                <a:ea typeface="微软雅黑"/>
              </a:rPr>
              <a:t>•  舵机 SG90：精确转角度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0">
                <a:solidFill>
                  <a:srgbClr val="2B2B2B"/>
                </a:solidFill>
                <a:latin typeface="微软雅黑"/>
                <a:ea typeface="微软雅黑"/>
              </a:rPr>
              <a:t>•  直流电机 + 驱动：小车动力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0">
                <a:solidFill>
                  <a:srgbClr val="2B2B2B"/>
                </a:solidFill>
                <a:latin typeface="微软雅黑"/>
                <a:ea typeface="微软雅黑"/>
              </a:rPr>
              <a:t>•  继电器：控制大功率设备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0">
                <a:solidFill>
                  <a:srgbClr val="2B2B2B"/>
                </a:solidFill>
                <a:latin typeface="微软雅黑"/>
                <a:ea typeface="微软雅黑"/>
              </a:rPr>
              <a:t>•  OLED / 1602 屏：显示信息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19" y="1280160"/>
            <a:ext cx="3520440" cy="48006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F1F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321040" y="1481328"/>
            <a:ext cx="3017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800" b="1">
                <a:solidFill>
                  <a:srgbClr val="5F6B72"/>
                </a:solidFill>
                <a:latin typeface="微软雅黑"/>
                <a:ea typeface="微软雅黑"/>
              </a:rPr>
              <a:t>连接：把它们连起来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2103120"/>
            <a:ext cx="301752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0">
                <a:solidFill>
                  <a:srgbClr val="2B2B2B"/>
                </a:solidFill>
                <a:latin typeface="微软雅黑"/>
                <a:ea typeface="微软雅黑"/>
              </a:rPr>
              <a:t>•  面包板：免焊接搭电路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0">
                <a:solidFill>
                  <a:srgbClr val="2B2B2B"/>
                </a:solidFill>
                <a:latin typeface="微软雅黑"/>
                <a:ea typeface="微软雅黑"/>
              </a:rPr>
              <a:t>•  杜邦线：公对公 / 公对母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0">
                <a:solidFill>
                  <a:srgbClr val="2B2B2B"/>
                </a:solidFill>
                <a:latin typeface="微软雅黑"/>
                <a:ea typeface="微软雅黑"/>
              </a:rPr>
              <a:t>•  220Ω 电阻：LED 限流保护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0">
                <a:solidFill>
                  <a:srgbClr val="2B2B2B"/>
                </a:solidFill>
                <a:latin typeface="微软雅黑"/>
                <a:ea typeface="微软雅黑"/>
              </a:rPr>
              <a:t>•  USB 数据线：供电 + 烧录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0">
                <a:solidFill>
                  <a:srgbClr val="2B2B2B"/>
                </a:solidFill>
                <a:latin typeface="微软雅黑"/>
                <a:ea typeface="微软雅黑"/>
              </a:rPr>
              <a:t>•  9V 电池盒：脱离电脑供电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media-generation-section-bg-0-7b1fceb4-6a00-469c-a6a8-50e5a6ce5baa.png"/>
          <p:cNvPicPr>
            <a:picLocks noChangeAspect="1"/>
          </p:cNvPicPr>
          <p:nvPr/>
        </p:nvPicPr>
        <p:blipFill>
          <a:blip r:embed="rId2"/>
          <a:srcRect l="1" r="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</p:spPr>
      </p:pic>
      <p:sp>
        <p:nvSpPr>
          <p:cNvPr id="3" name="TextBox 2"/>
          <p:cNvSpPr txBox="1"/>
          <p:nvPr/>
        </p:nvSpPr>
        <p:spPr>
          <a:xfrm>
            <a:off x="914400" y="1828800"/>
            <a:ext cx="10332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4400" b="1">
                <a:solidFill>
                  <a:srgbClr val="E67E22"/>
                </a:solidFill>
                <a:latin typeface="微软雅黑"/>
                <a:ea typeface="微软雅黑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697480"/>
            <a:ext cx="10332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4600" b="1">
                <a:solidFill>
                  <a:srgbClr val="FFFFFF"/>
                </a:solidFill>
                <a:latin typeface="微软雅黑"/>
                <a:ea typeface="微软雅黑"/>
              </a:rPr>
              <a:t>动手：从零点亮第一盏灯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3977639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2100" b="0">
                <a:solidFill>
                  <a:srgbClr val="FFFFFF"/>
                </a:solidFill>
                <a:latin typeface="微软雅黑"/>
                <a:ea typeface="微软雅黑"/>
              </a:rPr>
              <a:t>环境搭建 · 第一个程序 · 电路基础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0097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91440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200" b="0">
                <a:solidFill>
                  <a:srgbClr val="FFFFFF"/>
                </a:solidFill>
                <a:latin typeface="微软雅黑"/>
                <a:ea typeface="微软雅黑"/>
              </a:rPr>
              <a:t>02 · 动手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56032"/>
            <a:ext cx="10789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2600" b="1">
                <a:solidFill>
                  <a:srgbClr val="FFFFFF"/>
                </a:solidFill>
                <a:latin typeface="微软雅黑"/>
                <a:ea typeface="微软雅黑"/>
              </a:rPr>
              <a:t>Arduino IDE：安装与连接（5 步）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804672"/>
            <a:ext cx="822960" cy="4572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40080" y="6355080"/>
            <a:ext cx="10908792" cy="22860"/>
          </a:xfrm>
          <a:prstGeom prst="rect">
            <a:avLst/>
          </a:prstGeom>
          <a:solidFill>
            <a:srgbClr val="F1F4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6419088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100" b="0">
                <a:solidFill>
                  <a:srgbClr val="5F6B72"/>
                </a:solidFill>
                <a:latin typeface="微软雅黑"/>
                <a:ea typeface="微软雅黑"/>
              </a:rPr>
              <a:t>创新创业课程 · Arduino 开源硬件入门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19088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1000"/>
              </a:spcAft>
            </a:pPr>
            <a:r>
              <a:rPr sz="1100" b="0">
                <a:solidFill>
                  <a:srgbClr val="5F6B72"/>
                </a:solidFill>
                <a:latin typeface="微软雅黑"/>
                <a:ea typeface="微软雅黑"/>
              </a:rPr>
              <a:t>12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463040"/>
            <a:ext cx="2103120" cy="27432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F1F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1417319" y="1783080"/>
            <a:ext cx="548640" cy="548640"/>
          </a:xfrm>
          <a:prstGeom prst="ellipse">
            <a:avLst/>
          </a:prstGeom>
          <a:solidFill>
            <a:srgbClr val="0097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417319" y="1801368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1000"/>
              </a:spcAft>
            </a:pPr>
            <a:r>
              <a:rPr sz="2200" b="1">
                <a:solidFill>
                  <a:srgbClr val="FFFFFF"/>
                </a:solidFill>
                <a:latin typeface="微软雅黑"/>
                <a:ea typeface="微软雅黑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514600"/>
            <a:ext cx="18288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800" b="1">
                <a:solidFill>
                  <a:srgbClr val="2B2B2B"/>
                </a:solidFill>
                <a:latin typeface="微软雅黑"/>
                <a:ea typeface="微软雅黑"/>
              </a:rPr>
              <a:t>下载 IDE</a:t>
            </a:r>
          </a:p>
          <a:p>
            <a:pPr algn="ctr">
              <a:spcBef>
                <a:spcPts val="0"/>
              </a:spcBef>
              <a:spcAft>
                <a:spcPts val="1000"/>
              </a:spcAft>
            </a:pPr>
            <a:r>
              <a:rPr sz="1400" b="0">
                <a:solidFill>
                  <a:srgbClr val="5F6B72"/>
                </a:solidFill>
                <a:latin typeface="微软雅黑"/>
                <a:ea typeface="微软雅黑"/>
              </a:rPr>
              <a:t>官网 arduino.cc → Software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761487" y="2834640"/>
            <a:ext cx="36577" cy="0"/>
          </a:xfrm>
          <a:prstGeom prst="line">
            <a:avLst/>
          </a:prstGeom>
          <a:ln w="38100">
            <a:solidFill>
              <a:srgbClr val="00979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Isosceles Triangle 13"/>
          <p:cNvSpPr/>
          <p:nvPr/>
        </p:nvSpPr>
        <p:spPr>
          <a:xfrm rot="5400000">
            <a:off x="2788920" y="2752344"/>
            <a:ext cx="146304" cy="164592"/>
          </a:xfrm>
          <a:prstGeom prst="triangle">
            <a:avLst/>
          </a:prstGeom>
          <a:solidFill>
            <a:srgbClr val="0097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2898648" y="1463040"/>
            <a:ext cx="2103120" cy="27432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F1F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3675887" y="1783080"/>
            <a:ext cx="548640" cy="548640"/>
          </a:xfrm>
          <a:prstGeom prst="ellipse">
            <a:avLst/>
          </a:prstGeom>
          <a:solidFill>
            <a:srgbClr val="0097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675887" y="1801368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1000"/>
              </a:spcAft>
            </a:pPr>
            <a:r>
              <a:rPr sz="2200" b="1">
                <a:solidFill>
                  <a:srgbClr val="FFFFFF"/>
                </a:solidFill>
                <a:latin typeface="微软雅黑"/>
                <a:ea typeface="微软雅黑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35808" y="2514600"/>
            <a:ext cx="18288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800" b="1">
                <a:solidFill>
                  <a:srgbClr val="2B2B2B"/>
                </a:solidFill>
                <a:latin typeface="微软雅黑"/>
                <a:ea typeface="微软雅黑"/>
              </a:rPr>
              <a:t>连接开发板</a:t>
            </a:r>
          </a:p>
          <a:p>
            <a:pPr algn="ctr">
              <a:spcBef>
                <a:spcPts val="0"/>
              </a:spcBef>
              <a:spcAft>
                <a:spcPts val="1000"/>
              </a:spcAft>
            </a:pPr>
            <a:r>
              <a:rPr sz="1400" b="0">
                <a:solidFill>
                  <a:srgbClr val="5F6B72"/>
                </a:solidFill>
                <a:latin typeface="微软雅黑"/>
                <a:ea typeface="微软雅黑"/>
              </a:rPr>
              <a:t>USB 连接；装 CH340 驱动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020056" y="2834640"/>
            <a:ext cx="36576" cy="0"/>
          </a:xfrm>
          <a:prstGeom prst="line">
            <a:avLst/>
          </a:prstGeom>
          <a:ln w="38100">
            <a:solidFill>
              <a:srgbClr val="00979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Isosceles Triangle 19"/>
          <p:cNvSpPr/>
          <p:nvPr/>
        </p:nvSpPr>
        <p:spPr>
          <a:xfrm rot="5400000">
            <a:off x="5047488" y="2752344"/>
            <a:ext cx="146304" cy="164592"/>
          </a:xfrm>
          <a:prstGeom prst="triangle">
            <a:avLst/>
          </a:prstGeom>
          <a:solidFill>
            <a:srgbClr val="0097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5157216" y="1463040"/>
            <a:ext cx="2103120" cy="27432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F1F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5934456" y="1783080"/>
            <a:ext cx="548640" cy="548640"/>
          </a:xfrm>
          <a:prstGeom prst="ellipse">
            <a:avLst/>
          </a:prstGeom>
          <a:solidFill>
            <a:srgbClr val="0097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934456" y="1801368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1000"/>
              </a:spcAft>
            </a:pPr>
            <a:r>
              <a:rPr sz="2200" b="1">
                <a:solidFill>
                  <a:srgbClr val="FFFFFF"/>
                </a:solidFill>
                <a:latin typeface="微软雅黑"/>
                <a:ea typeface="微软雅黑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94376" y="2514600"/>
            <a:ext cx="18288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800" b="1">
                <a:solidFill>
                  <a:srgbClr val="2B2B2B"/>
                </a:solidFill>
                <a:latin typeface="微软雅黑"/>
                <a:ea typeface="微软雅黑"/>
              </a:rPr>
              <a:t>选择板型</a:t>
            </a:r>
          </a:p>
          <a:p>
            <a:pPr algn="ctr">
              <a:spcBef>
                <a:spcPts val="0"/>
              </a:spcBef>
              <a:spcAft>
                <a:spcPts val="1000"/>
              </a:spcAft>
            </a:pPr>
            <a:r>
              <a:rPr sz="1400" b="0">
                <a:solidFill>
                  <a:srgbClr val="5F6B72"/>
                </a:solidFill>
                <a:latin typeface="微软雅黑"/>
                <a:ea typeface="微软雅黑"/>
              </a:rPr>
              <a:t>工具 → 开发板 → Arduino Uno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7278624" y="2834640"/>
            <a:ext cx="36576" cy="0"/>
          </a:xfrm>
          <a:prstGeom prst="line">
            <a:avLst/>
          </a:prstGeom>
          <a:ln w="38100">
            <a:solidFill>
              <a:srgbClr val="00979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Isosceles Triangle 25"/>
          <p:cNvSpPr/>
          <p:nvPr/>
        </p:nvSpPr>
        <p:spPr>
          <a:xfrm rot="5400000">
            <a:off x="7306056" y="2752344"/>
            <a:ext cx="146304" cy="164592"/>
          </a:xfrm>
          <a:prstGeom prst="triangle">
            <a:avLst/>
          </a:prstGeom>
          <a:solidFill>
            <a:srgbClr val="0097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7415783" y="1463040"/>
            <a:ext cx="2103120" cy="27432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F1F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8193023" y="1783080"/>
            <a:ext cx="548640" cy="548640"/>
          </a:xfrm>
          <a:prstGeom prst="ellipse">
            <a:avLst/>
          </a:prstGeom>
          <a:solidFill>
            <a:srgbClr val="0097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193023" y="1801368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1000"/>
              </a:spcAft>
            </a:pPr>
            <a:r>
              <a:rPr sz="2200" b="1">
                <a:solidFill>
                  <a:srgbClr val="FFFFFF"/>
                </a:solidFill>
                <a:latin typeface="微软雅黑"/>
                <a:ea typeface="微软雅黑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552944" y="2514600"/>
            <a:ext cx="18288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800" b="1">
                <a:solidFill>
                  <a:srgbClr val="2B2B2B"/>
                </a:solidFill>
                <a:latin typeface="微软雅黑"/>
                <a:ea typeface="微软雅黑"/>
              </a:rPr>
              <a:t>选择端口</a:t>
            </a:r>
          </a:p>
          <a:p>
            <a:pPr algn="ctr">
              <a:spcBef>
                <a:spcPts val="0"/>
              </a:spcBef>
              <a:spcAft>
                <a:spcPts val="1000"/>
              </a:spcAft>
            </a:pPr>
            <a:r>
              <a:rPr sz="1400" b="0">
                <a:solidFill>
                  <a:srgbClr val="5F6B72"/>
                </a:solidFill>
                <a:latin typeface="微软雅黑"/>
                <a:ea typeface="微软雅黑"/>
              </a:rPr>
              <a:t>工具 → 端口 → COM 口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9537192" y="2834640"/>
            <a:ext cx="36575" cy="0"/>
          </a:xfrm>
          <a:prstGeom prst="line">
            <a:avLst/>
          </a:prstGeom>
          <a:ln w="38100">
            <a:solidFill>
              <a:srgbClr val="00979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Isosceles Triangle 31"/>
          <p:cNvSpPr/>
          <p:nvPr/>
        </p:nvSpPr>
        <p:spPr>
          <a:xfrm rot="5400000">
            <a:off x="9564624" y="2752344"/>
            <a:ext cx="146304" cy="164592"/>
          </a:xfrm>
          <a:prstGeom prst="triangle">
            <a:avLst/>
          </a:prstGeom>
          <a:solidFill>
            <a:srgbClr val="0097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ounded Rectangle 32"/>
          <p:cNvSpPr/>
          <p:nvPr/>
        </p:nvSpPr>
        <p:spPr>
          <a:xfrm>
            <a:off x="9674352" y="1463040"/>
            <a:ext cx="2103120" cy="27432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F1F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10451592" y="1783080"/>
            <a:ext cx="548640" cy="548640"/>
          </a:xfrm>
          <a:prstGeom prst="ellipse">
            <a:avLst/>
          </a:prstGeom>
          <a:solidFill>
            <a:srgbClr val="0097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10451592" y="1801368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1000"/>
              </a:spcAft>
            </a:pPr>
            <a:r>
              <a:rPr sz="2200" b="1">
                <a:solidFill>
                  <a:srgbClr val="FFFFFF"/>
                </a:solidFill>
                <a:latin typeface="微软雅黑"/>
                <a:ea typeface="微软雅黑"/>
              </a:rPr>
              <a:t>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811512" y="2514600"/>
            <a:ext cx="18288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800" b="1">
                <a:solidFill>
                  <a:srgbClr val="2B2B2B"/>
                </a:solidFill>
                <a:latin typeface="微软雅黑"/>
                <a:ea typeface="微软雅黑"/>
              </a:rPr>
              <a:t>上传 Blink</a:t>
            </a:r>
          </a:p>
          <a:p>
            <a:pPr algn="ctr">
              <a:spcBef>
                <a:spcPts val="0"/>
              </a:spcBef>
              <a:spcAft>
                <a:spcPts val="1000"/>
              </a:spcAft>
            </a:pPr>
            <a:r>
              <a:rPr sz="1400" b="0">
                <a:solidFill>
                  <a:srgbClr val="5F6B72"/>
                </a:solidFill>
                <a:latin typeface="微软雅黑"/>
                <a:ea typeface="微软雅黑"/>
              </a:rPr>
              <a:t>文件 → 示例 → 01.Basics → Blink，点 →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40080" y="4572000"/>
            <a:ext cx="10908792" cy="914400"/>
          </a:xfrm>
          <a:prstGeom prst="roundRect">
            <a:avLst/>
          </a:prstGeom>
          <a:solidFill>
            <a:srgbClr val="0097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914400" y="4754880"/>
            <a:ext cx="10332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FFFFFF"/>
                </a:solidFill>
                <a:latin typeface="微软雅黑"/>
                <a:ea typeface="微软雅黑"/>
              </a:rPr>
              <a:t>看到板载 LED 开始闪烁 —— 恭喜，开发环境已经跑通！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0097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91440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200" b="0">
                <a:solidFill>
                  <a:srgbClr val="FFFFFF"/>
                </a:solidFill>
                <a:latin typeface="微软雅黑"/>
                <a:ea typeface="微软雅黑"/>
              </a:rPr>
              <a:t>02 · 动手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56032"/>
            <a:ext cx="10789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2600" b="1">
                <a:solidFill>
                  <a:srgbClr val="FFFFFF"/>
                </a:solidFill>
                <a:latin typeface="微软雅黑"/>
                <a:ea typeface="微软雅黑"/>
              </a:rPr>
              <a:t>第一个程序：Blink（点亮 LED）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804672"/>
            <a:ext cx="822960" cy="4572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40080" y="6355080"/>
            <a:ext cx="10908792" cy="22860"/>
          </a:xfrm>
          <a:prstGeom prst="rect">
            <a:avLst/>
          </a:prstGeom>
          <a:solidFill>
            <a:srgbClr val="F1F4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6419088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100" b="0">
                <a:solidFill>
                  <a:srgbClr val="5F6B72"/>
                </a:solidFill>
                <a:latin typeface="微软雅黑"/>
                <a:ea typeface="微软雅黑"/>
              </a:rPr>
              <a:t>创新创业课程 · Arduino 开源硬件入门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19088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1000"/>
              </a:spcAft>
            </a:pPr>
            <a:r>
              <a:rPr sz="1100" b="0">
                <a:solidFill>
                  <a:srgbClr val="5F6B72"/>
                </a:solidFill>
                <a:latin typeface="微软雅黑"/>
                <a:ea typeface="微软雅黑"/>
              </a:rPr>
              <a:t>13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234440"/>
            <a:ext cx="5120640" cy="4892040"/>
          </a:xfrm>
          <a:prstGeom prst="roundRect">
            <a:avLst/>
          </a:prstGeom>
          <a:solidFill>
            <a:srgbClr val="1E2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" y="1463040"/>
            <a:ext cx="46634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500"/>
              </a:spcAft>
            </a:pPr>
            <a:r>
              <a:rPr sz="1500" b="0">
                <a:solidFill>
                  <a:srgbClr val="FFFFFF"/>
                </a:solidFill>
                <a:latin typeface="Consolas"/>
                <a:ea typeface="Consolas"/>
              </a:rPr>
              <a:t>void setup() {</a:t>
            </a:r>
          </a:p>
          <a:p>
            <a:pPr>
              <a:spcBef>
                <a:spcPts val="0"/>
              </a:spcBef>
              <a:spcAft>
                <a:spcPts val="500"/>
              </a:spcAft>
            </a:pPr>
            <a:r>
              <a:rPr sz="1500" b="0">
                <a:solidFill>
                  <a:srgbClr val="FFFFFF"/>
                </a:solidFill>
                <a:latin typeface="Consolas"/>
                <a:ea typeface="Consolas"/>
              </a:rPr>
              <a:t>  pinMode(13, OUTPUT);   // 13号引脚设为输出</a:t>
            </a:r>
          </a:p>
          <a:p>
            <a:pPr>
              <a:spcBef>
                <a:spcPts val="0"/>
              </a:spcBef>
              <a:spcAft>
                <a:spcPts val="500"/>
              </a:spcAft>
            </a:pPr>
            <a:r>
              <a:rPr sz="1500" b="0">
                <a:solidFill>
                  <a:srgbClr val="FFFFFF"/>
                </a:solidFill>
                <a:latin typeface="Consolas"/>
                <a:ea typeface="Consolas"/>
              </a:rPr>
              <a:t>}</a:t>
            </a:r>
          </a:p>
          <a:p>
            <a:pPr>
              <a:spcBef>
                <a:spcPts val="0"/>
              </a:spcBef>
              <a:spcAft>
                <a:spcPts val="500"/>
              </a:spcAft>
            </a:pPr>
            <a:r>
              <a:rPr sz="1500" b="0">
                <a:solidFill>
                  <a:srgbClr val="FFFFFF"/>
                </a:solidFill>
                <a:latin typeface="Consolas"/>
                <a:ea typeface="Consolas"/>
              </a:rPr>
              <a:t> </a:t>
            </a:r>
          </a:p>
          <a:p>
            <a:pPr>
              <a:spcBef>
                <a:spcPts val="0"/>
              </a:spcBef>
              <a:spcAft>
                <a:spcPts val="500"/>
              </a:spcAft>
            </a:pPr>
            <a:r>
              <a:rPr sz="1500" b="0">
                <a:solidFill>
                  <a:srgbClr val="FFFFFF"/>
                </a:solidFill>
                <a:latin typeface="Consolas"/>
                <a:ea typeface="Consolas"/>
              </a:rPr>
              <a:t>void loop() {</a:t>
            </a:r>
          </a:p>
          <a:p>
            <a:pPr>
              <a:spcBef>
                <a:spcPts val="0"/>
              </a:spcBef>
              <a:spcAft>
                <a:spcPts val="500"/>
              </a:spcAft>
            </a:pPr>
            <a:r>
              <a:rPr sz="1500" b="0">
                <a:solidFill>
                  <a:srgbClr val="FFFFFF"/>
                </a:solidFill>
                <a:latin typeface="Consolas"/>
                <a:ea typeface="Consolas"/>
              </a:rPr>
              <a:t>  digitalWrite(13, HIGH); // 点亮 LED</a:t>
            </a:r>
          </a:p>
          <a:p>
            <a:pPr>
              <a:spcBef>
                <a:spcPts val="0"/>
              </a:spcBef>
              <a:spcAft>
                <a:spcPts val="500"/>
              </a:spcAft>
            </a:pPr>
            <a:r>
              <a:rPr sz="1500" b="0">
                <a:solidFill>
                  <a:srgbClr val="FFFFFF"/>
                </a:solidFill>
                <a:latin typeface="Consolas"/>
                <a:ea typeface="Consolas"/>
              </a:rPr>
              <a:t>  delay(1000);            // 等待 1 秒</a:t>
            </a:r>
          </a:p>
          <a:p>
            <a:pPr>
              <a:spcBef>
                <a:spcPts val="0"/>
              </a:spcBef>
              <a:spcAft>
                <a:spcPts val="500"/>
              </a:spcAft>
            </a:pPr>
            <a:r>
              <a:rPr sz="1500" b="0">
                <a:solidFill>
                  <a:srgbClr val="FFFFFF"/>
                </a:solidFill>
                <a:latin typeface="Consolas"/>
                <a:ea typeface="Consolas"/>
              </a:rPr>
              <a:t>  digitalWrite(13, LOW);  // 熄灭 LED</a:t>
            </a:r>
          </a:p>
          <a:p>
            <a:pPr>
              <a:spcBef>
                <a:spcPts val="0"/>
              </a:spcBef>
              <a:spcAft>
                <a:spcPts val="500"/>
              </a:spcAft>
            </a:pPr>
            <a:r>
              <a:rPr sz="1500" b="0">
                <a:solidFill>
                  <a:srgbClr val="FFFFFF"/>
                </a:solidFill>
                <a:latin typeface="Consolas"/>
                <a:ea typeface="Consolas"/>
              </a:rPr>
              <a:t>  delay(1000);</a:t>
            </a:r>
          </a:p>
          <a:p>
            <a:pPr>
              <a:spcBef>
                <a:spcPts val="0"/>
              </a:spcBef>
              <a:spcAft>
                <a:spcPts val="500"/>
              </a:spcAft>
            </a:pPr>
            <a:r>
              <a:rPr sz="1500" b="0">
                <a:solidFill>
                  <a:srgbClr val="FFFFFF"/>
                </a:solidFill>
                <a:latin typeface="Consolas"/>
                <a:ea typeface="Consolas"/>
              </a:rPr>
              <a:t>}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35040" y="1234440"/>
            <a:ext cx="5422392" cy="324612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F1F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309360" y="137160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600" b="1">
                <a:solidFill>
                  <a:srgbClr val="006B70"/>
                </a:solidFill>
                <a:latin typeface="微软雅黑"/>
                <a:ea typeface="微软雅黑"/>
              </a:rPr>
              <a:t>接线逻辑：电流从 13 号引脚出发，回到 GND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60" y="1965960"/>
            <a:ext cx="1234440" cy="777240"/>
          </a:xfrm>
          <a:prstGeom prst="roundRect">
            <a:avLst/>
          </a:prstGeom>
          <a:solidFill>
            <a:srgbClr val="1E88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355080" y="2039112"/>
            <a:ext cx="1143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微软雅黑"/>
                <a:ea typeface="微软雅黑"/>
              </a:rPr>
              <a:t>13号引脚</a:t>
            </a:r>
          </a:p>
          <a:p>
            <a:pPr algn="ctr">
              <a:spcBef>
                <a:spcPts val="0"/>
              </a:spcBef>
              <a:spcAft>
                <a:spcPts val="1000"/>
              </a:spcAft>
            </a:pPr>
            <a:r>
              <a:rPr sz="1200" b="0">
                <a:solidFill>
                  <a:srgbClr val="FFFFFF"/>
                </a:solidFill>
                <a:latin typeface="微软雅黑"/>
                <a:ea typeface="微软雅黑"/>
              </a:rPr>
              <a:t>HIGH = 5V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607808" y="2359152"/>
            <a:ext cx="146303" cy="0"/>
          </a:xfrm>
          <a:prstGeom prst="line">
            <a:avLst/>
          </a:prstGeom>
          <a:ln w="38100">
            <a:solidFill>
              <a:srgbClr val="E67E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Isosceles Triangle 15"/>
          <p:cNvSpPr/>
          <p:nvPr/>
        </p:nvSpPr>
        <p:spPr>
          <a:xfrm rot="5400000">
            <a:off x="7744967" y="2276856"/>
            <a:ext cx="146304" cy="164592"/>
          </a:xfrm>
          <a:prstGeom prst="triangle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7955279" y="1965960"/>
            <a:ext cx="1234440" cy="777240"/>
          </a:xfrm>
          <a:prstGeom prst="roundRect">
            <a:avLst/>
          </a:prstGeom>
          <a:solidFill>
            <a:srgbClr val="D9A4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001000" y="2039112"/>
            <a:ext cx="1143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1A1A1A"/>
                </a:solidFill>
                <a:latin typeface="微软雅黑"/>
                <a:ea typeface="微软雅黑"/>
              </a:rPr>
              <a:t>220Ω 电阻</a:t>
            </a:r>
          </a:p>
          <a:p>
            <a:pPr algn="ctr">
              <a:spcBef>
                <a:spcPts val="0"/>
              </a:spcBef>
              <a:spcAft>
                <a:spcPts val="1000"/>
              </a:spcAft>
            </a:pPr>
            <a:r>
              <a:rPr sz="1200" b="0">
                <a:solidFill>
                  <a:srgbClr val="2B2B2B"/>
                </a:solidFill>
                <a:latin typeface="微软雅黑"/>
                <a:ea typeface="微软雅黑"/>
              </a:rPr>
              <a:t>限流保护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9253728" y="2359152"/>
            <a:ext cx="146304" cy="0"/>
          </a:xfrm>
          <a:prstGeom prst="line">
            <a:avLst/>
          </a:prstGeom>
          <a:ln w="38100">
            <a:solidFill>
              <a:srgbClr val="E67E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Isosceles Triangle 19"/>
          <p:cNvSpPr/>
          <p:nvPr/>
        </p:nvSpPr>
        <p:spPr>
          <a:xfrm rot="5400000">
            <a:off x="9390888" y="2276856"/>
            <a:ext cx="146304" cy="164592"/>
          </a:xfrm>
          <a:prstGeom prst="triangle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9601200" y="1965960"/>
            <a:ext cx="1234440" cy="777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646920" y="2039112"/>
            <a:ext cx="1143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2B2B2B"/>
                </a:solidFill>
                <a:latin typeface="微软雅黑"/>
                <a:ea typeface="微软雅黑"/>
              </a:rPr>
              <a:t>LED</a:t>
            </a:r>
          </a:p>
          <a:p>
            <a:pPr algn="ctr">
              <a:spcBef>
                <a:spcPts val="0"/>
              </a:spcBef>
              <a:spcAft>
                <a:spcPts val="1000"/>
              </a:spcAft>
            </a:pPr>
            <a:r>
              <a:rPr sz="1200" b="0">
                <a:solidFill>
                  <a:srgbClr val="5F6B72"/>
                </a:solidFill>
                <a:latin typeface="微软雅黑"/>
                <a:ea typeface="微软雅黑"/>
              </a:rPr>
              <a:t>长脚接 +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46920" y="283464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1000"/>
              </a:spcAft>
            </a:pPr>
            <a:r>
              <a:rPr sz="1200" b="0">
                <a:solidFill>
                  <a:srgbClr val="5F6B72"/>
                </a:solidFill>
                <a:latin typeface="微软雅黑"/>
                <a:ea typeface="微软雅黑"/>
              </a:rPr>
              <a:t>短脚接 −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10213848" y="2743200"/>
            <a:ext cx="0" cy="685800"/>
          </a:xfrm>
          <a:prstGeom prst="line">
            <a:avLst/>
          </a:prstGeom>
          <a:ln w="38100">
            <a:solidFill>
              <a:srgbClr val="E67E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9601200" y="3429000"/>
            <a:ext cx="1234440" cy="731520"/>
          </a:xfrm>
          <a:prstGeom prst="round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646920" y="3502152"/>
            <a:ext cx="1143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微软雅黑"/>
                <a:ea typeface="微软雅黑"/>
              </a:rPr>
              <a:t>GND</a:t>
            </a:r>
          </a:p>
          <a:p>
            <a:pPr algn="ctr">
              <a:spcBef>
                <a:spcPts val="0"/>
              </a:spcBef>
              <a:spcAft>
                <a:spcPts val="1000"/>
              </a:spcAft>
            </a:pPr>
            <a:r>
              <a:rPr sz="1200" b="0">
                <a:solidFill>
                  <a:srgbClr val="FFFFFF"/>
                </a:solidFill>
                <a:latin typeface="微软雅黑"/>
                <a:ea typeface="微软雅黑"/>
              </a:rPr>
              <a:t>回到负极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6922008" y="3794760"/>
            <a:ext cx="3291840" cy="0"/>
          </a:xfrm>
          <a:prstGeom prst="line">
            <a:avLst/>
          </a:prstGeom>
          <a:ln w="38100">
            <a:solidFill>
              <a:srgbClr val="E67E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6922008" y="2743200"/>
            <a:ext cx="0" cy="1051560"/>
          </a:xfrm>
          <a:prstGeom prst="line">
            <a:avLst/>
          </a:prstGeom>
          <a:ln w="38100">
            <a:solidFill>
              <a:srgbClr val="E67E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6309360" y="434340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300" b="1">
                <a:solidFill>
                  <a:srgbClr val="E67E22"/>
                </a:solidFill>
                <a:latin typeface="微软雅黑"/>
                <a:ea typeface="微软雅黑"/>
              </a:rPr>
              <a:t>先断电再接线！LED 长脚为正极，必须串联电阻。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035040" y="4709160"/>
            <a:ext cx="5422392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600" b="0">
                <a:solidFill>
                  <a:srgbClr val="2B2B2B"/>
                </a:solidFill>
                <a:latin typeface="微软雅黑"/>
                <a:ea typeface="微软雅黑"/>
              </a:rPr>
              <a:t>setup()：上电只运行一次，负责初始化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600" b="0">
                <a:solidFill>
                  <a:srgbClr val="2B2B2B"/>
                </a:solidFill>
                <a:latin typeface="微软雅黑"/>
                <a:ea typeface="微软雅黑"/>
              </a:rPr>
              <a:t>loop()：之后无限循环执行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600" b="1">
                <a:solidFill>
                  <a:srgbClr val="E67E22"/>
                </a:solidFill>
                <a:latin typeface="微软雅黑"/>
                <a:ea typeface="微软雅黑"/>
              </a:rPr>
              <a:t>动手挑战：把 delay(1000) 改成 200，会发生什么？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0097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91440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200" b="0">
                <a:solidFill>
                  <a:srgbClr val="FFFFFF"/>
                </a:solidFill>
                <a:latin typeface="微软雅黑"/>
                <a:ea typeface="微软雅黑"/>
              </a:rPr>
              <a:t>02 · 动手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56032"/>
            <a:ext cx="10789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2600" b="1">
                <a:solidFill>
                  <a:srgbClr val="FFFFFF"/>
                </a:solidFill>
                <a:latin typeface="微软雅黑"/>
                <a:ea typeface="微软雅黑"/>
              </a:rPr>
              <a:t>电路基础三要素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804672"/>
            <a:ext cx="822960" cy="4572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40080" y="6355080"/>
            <a:ext cx="10908792" cy="22860"/>
          </a:xfrm>
          <a:prstGeom prst="rect">
            <a:avLst/>
          </a:prstGeom>
          <a:solidFill>
            <a:srgbClr val="F1F4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6419088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100" b="0">
                <a:solidFill>
                  <a:srgbClr val="5F6B72"/>
                </a:solidFill>
                <a:latin typeface="微软雅黑"/>
                <a:ea typeface="微软雅黑"/>
              </a:rPr>
              <a:t>创新创业课程 · Arduino 开源硬件入门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19088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1000"/>
              </a:spcAft>
            </a:pPr>
            <a:r>
              <a:rPr sz="1100" b="0">
                <a:solidFill>
                  <a:srgbClr val="5F6B72"/>
                </a:solidFill>
                <a:latin typeface="微软雅黑"/>
                <a:ea typeface="微软雅黑"/>
              </a:rPr>
              <a:t>14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280160"/>
            <a:ext cx="3520440" cy="265176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F1F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" y="1463040"/>
            <a:ext cx="30175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4000" b="1">
                <a:solidFill>
                  <a:srgbClr val="00979D"/>
                </a:solidFill>
                <a:latin typeface="微软雅黑"/>
                <a:ea typeface="微软雅黑"/>
              </a:rPr>
              <a:t>V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000" b="1">
                <a:solidFill>
                  <a:srgbClr val="2B2B2B"/>
                </a:solidFill>
                <a:latin typeface="微软雅黑"/>
                <a:ea typeface="微软雅黑"/>
              </a:rPr>
              <a:t>电压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500" b="0">
                <a:solidFill>
                  <a:srgbClr val="5F6B72"/>
                </a:solidFill>
                <a:latin typeface="微软雅黑"/>
                <a:ea typeface="微软雅黑"/>
              </a:rPr>
              <a:t>推动电流的"水压"
Arduino 引脚：5V / 3.3V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1280160"/>
            <a:ext cx="3520440" cy="265176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F1F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617720" y="1463040"/>
            <a:ext cx="30175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4000" b="1">
                <a:solidFill>
                  <a:srgbClr val="00979D"/>
                </a:solidFill>
                <a:latin typeface="微软雅黑"/>
                <a:ea typeface="微软雅黑"/>
              </a:rPr>
              <a:t>A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000" b="1">
                <a:solidFill>
                  <a:srgbClr val="2B2B2B"/>
                </a:solidFill>
                <a:latin typeface="微软雅黑"/>
                <a:ea typeface="微软雅黑"/>
              </a:rPr>
              <a:t>电流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500" b="0">
                <a:solidFill>
                  <a:srgbClr val="5F6B72"/>
                </a:solidFill>
                <a:latin typeface="微软雅黑"/>
                <a:ea typeface="微软雅黑"/>
              </a:rPr>
              <a:t>流动的电荷
单引脚建议 &lt; 20mA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19" y="1280160"/>
            <a:ext cx="3520440" cy="265176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F1F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321040" y="1463040"/>
            <a:ext cx="30175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4000" b="1">
                <a:solidFill>
                  <a:srgbClr val="00979D"/>
                </a:solidFill>
                <a:latin typeface="微软雅黑"/>
                <a:ea typeface="微软雅黑"/>
              </a:rPr>
              <a:t>Ω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000" b="1">
                <a:solidFill>
                  <a:srgbClr val="2B2B2B"/>
                </a:solidFill>
                <a:latin typeface="微软雅黑"/>
                <a:ea typeface="微软雅黑"/>
              </a:rPr>
              <a:t>电阻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500" b="0">
                <a:solidFill>
                  <a:srgbClr val="5F6B72"/>
                </a:solidFill>
                <a:latin typeface="微软雅黑"/>
                <a:ea typeface="微软雅黑"/>
              </a:rPr>
              <a:t>限制电流
LED 必须串联约 220Ω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4206240"/>
            <a:ext cx="10908792" cy="19202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40080" y="4206240"/>
            <a:ext cx="128016" cy="192024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005840" y="4389120"/>
            <a:ext cx="102412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900" b="1">
                <a:solidFill>
                  <a:srgbClr val="E67E22"/>
                </a:solidFill>
                <a:latin typeface="微软雅黑"/>
                <a:ea typeface="微软雅黑"/>
              </a:rPr>
              <a:t>安全铁律（牢记）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0">
                <a:solidFill>
                  <a:srgbClr val="2B2B2B"/>
                </a:solidFill>
                <a:latin typeface="微软雅黑"/>
                <a:ea typeface="微软雅黑"/>
              </a:rPr>
              <a:t>•  接线前先断开 USB，改完电路再通电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0">
                <a:solidFill>
                  <a:srgbClr val="2B2B2B"/>
                </a:solidFill>
                <a:latin typeface="微软雅黑"/>
                <a:ea typeface="微软雅黑"/>
              </a:rPr>
              <a:t>•  电机、水泵等大功率设备用驱动模块或继电器隔离，不直接接引脚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0">
                <a:solidFill>
                  <a:srgbClr val="2B2B2B"/>
                </a:solidFill>
                <a:latin typeface="微软雅黑"/>
                <a:ea typeface="微软雅黑"/>
              </a:rPr>
              <a:t>•  5V 弱电电路绝不触碰 220V 市电 —— 这是红线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media-generation-section-bg-0-7b1fceb4-6a00-469c-a6a8-50e5a6ce5baa.png"/>
          <p:cNvPicPr>
            <a:picLocks noChangeAspect="1"/>
          </p:cNvPicPr>
          <p:nvPr/>
        </p:nvPicPr>
        <p:blipFill>
          <a:blip r:embed="rId2"/>
          <a:srcRect l="1" r="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</p:spPr>
      </p:pic>
      <p:sp>
        <p:nvSpPr>
          <p:cNvPr id="3" name="TextBox 2"/>
          <p:cNvSpPr txBox="1"/>
          <p:nvPr/>
        </p:nvSpPr>
        <p:spPr>
          <a:xfrm>
            <a:off x="914400" y="1828800"/>
            <a:ext cx="10332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4400" b="1">
                <a:solidFill>
                  <a:srgbClr val="E67E22"/>
                </a:solidFill>
                <a:latin typeface="微软雅黑"/>
                <a:ea typeface="微软雅黑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697480"/>
            <a:ext cx="10332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4600" b="1">
                <a:solidFill>
                  <a:srgbClr val="FFFFFF"/>
                </a:solidFill>
                <a:latin typeface="微软雅黑"/>
                <a:ea typeface="微软雅黑"/>
              </a:rPr>
              <a:t>六个一看就会的创意项目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3977639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2100" b="0">
                <a:solidFill>
                  <a:srgbClr val="FFFFFF"/>
                </a:solidFill>
                <a:latin typeface="微软雅黑"/>
                <a:ea typeface="微软雅黑"/>
              </a:rPr>
              <a:t>低成本 · 易复现 · 可拓展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0097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91440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200" b="0">
                <a:solidFill>
                  <a:srgbClr val="FFFFFF"/>
                </a:solidFill>
                <a:latin typeface="微软雅黑"/>
                <a:ea typeface="微软雅黑"/>
              </a:rPr>
              <a:t>03 · 创意项目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56032"/>
            <a:ext cx="10789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2600" b="1">
                <a:solidFill>
                  <a:srgbClr val="FFFFFF"/>
                </a:solidFill>
                <a:latin typeface="微软雅黑"/>
                <a:ea typeface="微软雅黑"/>
              </a:rPr>
              <a:t>做项目的通用方法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804672"/>
            <a:ext cx="822960" cy="4572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40080" y="6355080"/>
            <a:ext cx="10908792" cy="22860"/>
          </a:xfrm>
          <a:prstGeom prst="rect">
            <a:avLst/>
          </a:prstGeom>
          <a:solidFill>
            <a:srgbClr val="F1F4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6419088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100" b="0">
                <a:solidFill>
                  <a:srgbClr val="5F6B72"/>
                </a:solidFill>
                <a:latin typeface="微软雅黑"/>
                <a:ea typeface="微软雅黑"/>
              </a:rPr>
              <a:t>创新创业课程 · Arduino 开源硬件入门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19088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1000"/>
              </a:spcAft>
            </a:pPr>
            <a:r>
              <a:rPr sz="1100" b="0">
                <a:solidFill>
                  <a:srgbClr val="5F6B72"/>
                </a:solidFill>
                <a:latin typeface="微软雅黑"/>
                <a:ea typeface="微软雅黑"/>
              </a:rPr>
              <a:t>16</a:t>
            </a:r>
          </a:p>
        </p:txBody>
      </p:sp>
      <p:sp>
        <p:nvSpPr>
          <p:cNvPr id="9" name="Oval 8"/>
          <p:cNvSpPr/>
          <p:nvPr/>
        </p:nvSpPr>
        <p:spPr>
          <a:xfrm>
            <a:off x="1572768" y="1554480"/>
            <a:ext cx="658368" cy="658368"/>
          </a:xfrm>
          <a:prstGeom prst="ellipse">
            <a:avLst/>
          </a:prstGeom>
          <a:solidFill>
            <a:srgbClr val="0097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572768" y="1591056"/>
            <a:ext cx="65836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1000"/>
              </a:spcAft>
            </a:pPr>
            <a:r>
              <a:rPr sz="2400" b="1">
                <a:solidFill>
                  <a:srgbClr val="FFFFFF"/>
                </a:solidFill>
                <a:latin typeface="微软雅黑"/>
                <a:ea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377440"/>
            <a:ext cx="26974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800" b="1">
                <a:solidFill>
                  <a:srgbClr val="2B2B2B"/>
                </a:solidFill>
                <a:latin typeface="微软雅黑"/>
                <a:ea typeface="微软雅黑"/>
              </a:rPr>
              <a:t>发现真问题</a:t>
            </a:r>
          </a:p>
          <a:p>
            <a:pPr algn="ctr">
              <a:spcBef>
                <a:spcPts val="0"/>
              </a:spcBef>
              <a:spcAft>
                <a:spcPts val="1000"/>
              </a:spcAft>
            </a:pPr>
            <a:r>
              <a:rPr sz="1400" b="0">
                <a:solidFill>
                  <a:srgbClr val="5F6B72"/>
                </a:solidFill>
                <a:latin typeface="微软雅黑"/>
                <a:ea typeface="微软雅黑"/>
              </a:rPr>
              <a:t>宿舍 / 教室 / 生活中的
小痛点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182111" y="1883664"/>
            <a:ext cx="91440" cy="0"/>
          </a:xfrm>
          <a:prstGeom prst="line">
            <a:avLst/>
          </a:prstGeom>
          <a:ln w="38100">
            <a:solidFill>
              <a:srgbClr val="00979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Isosceles Triangle 12"/>
          <p:cNvSpPr/>
          <p:nvPr/>
        </p:nvSpPr>
        <p:spPr>
          <a:xfrm rot="5400000">
            <a:off x="3264408" y="1801368"/>
            <a:ext cx="146304" cy="164592"/>
          </a:xfrm>
          <a:prstGeom prst="triangle">
            <a:avLst/>
          </a:prstGeom>
          <a:solidFill>
            <a:srgbClr val="0097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4370831" y="1554480"/>
            <a:ext cx="658368" cy="658368"/>
          </a:xfrm>
          <a:prstGeom prst="ellipse">
            <a:avLst/>
          </a:prstGeom>
          <a:solidFill>
            <a:srgbClr val="0097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370831" y="1591056"/>
            <a:ext cx="65836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1000"/>
              </a:spcAft>
            </a:pPr>
            <a:r>
              <a:rPr sz="2400" b="1">
                <a:solidFill>
                  <a:srgbClr val="FFFFFF"/>
                </a:solidFill>
                <a:latin typeface="微软雅黑"/>
                <a:ea typeface="微软雅黑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46703" y="2377440"/>
            <a:ext cx="26974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800" b="1">
                <a:solidFill>
                  <a:srgbClr val="2B2B2B"/>
                </a:solidFill>
                <a:latin typeface="微软雅黑"/>
                <a:ea typeface="微软雅黑"/>
              </a:rPr>
              <a:t>最小原型 MVP</a:t>
            </a:r>
          </a:p>
          <a:p>
            <a:pPr algn="ctr">
              <a:spcBef>
                <a:spcPts val="0"/>
              </a:spcBef>
              <a:spcAft>
                <a:spcPts val="1000"/>
              </a:spcAft>
            </a:pPr>
            <a:r>
              <a:rPr sz="1400" b="0">
                <a:solidFill>
                  <a:srgbClr val="5F6B72"/>
                </a:solidFill>
                <a:latin typeface="微软雅黑"/>
                <a:ea typeface="微软雅黑"/>
              </a:rPr>
              <a:t>最少元件、最快速度
先让核心功能跑起来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5980175" y="1883664"/>
            <a:ext cx="91441" cy="0"/>
          </a:xfrm>
          <a:prstGeom prst="line">
            <a:avLst/>
          </a:prstGeom>
          <a:ln w="38100">
            <a:solidFill>
              <a:srgbClr val="00979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Isosceles Triangle 17"/>
          <p:cNvSpPr/>
          <p:nvPr/>
        </p:nvSpPr>
        <p:spPr>
          <a:xfrm rot="5400000">
            <a:off x="6062471" y="1801368"/>
            <a:ext cx="146304" cy="164592"/>
          </a:xfrm>
          <a:prstGeom prst="triangle">
            <a:avLst/>
          </a:prstGeom>
          <a:solidFill>
            <a:srgbClr val="0097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7168896" y="1554480"/>
            <a:ext cx="658368" cy="658368"/>
          </a:xfrm>
          <a:prstGeom prst="ellipse">
            <a:avLst/>
          </a:prstGeom>
          <a:solidFill>
            <a:srgbClr val="0097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168896" y="1591056"/>
            <a:ext cx="65836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1000"/>
              </a:spcAft>
            </a:pPr>
            <a:r>
              <a:rPr sz="2400" b="1">
                <a:solidFill>
                  <a:srgbClr val="FFFFFF"/>
                </a:solidFill>
                <a:latin typeface="微软雅黑"/>
                <a:ea typeface="微软雅黑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44768" y="2377440"/>
            <a:ext cx="26974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800" b="1">
                <a:solidFill>
                  <a:srgbClr val="2B2B2B"/>
                </a:solidFill>
                <a:latin typeface="微软雅黑"/>
                <a:ea typeface="微软雅黑"/>
              </a:rPr>
              <a:t>快速验证</a:t>
            </a:r>
          </a:p>
          <a:p>
            <a:pPr algn="ctr">
              <a:spcBef>
                <a:spcPts val="0"/>
              </a:spcBef>
              <a:spcAft>
                <a:spcPts val="1000"/>
              </a:spcAft>
            </a:pPr>
            <a:r>
              <a:rPr sz="1400" b="0">
                <a:solidFill>
                  <a:srgbClr val="5F6B72"/>
                </a:solidFill>
                <a:latin typeface="微软雅黑"/>
                <a:ea typeface="微软雅黑"/>
              </a:rPr>
              <a:t>拿给同学老师试用
收集真实反馈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8778240" y="1883664"/>
            <a:ext cx="91440" cy="0"/>
          </a:xfrm>
          <a:prstGeom prst="line">
            <a:avLst/>
          </a:prstGeom>
          <a:ln w="38100">
            <a:solidFill>
              <a:srgbClr val="00979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Isosceles Triangle 22"/>
          <p:cNvSpPr/>
          <p:nvPr/>
        </p:nvSpPr>
        <p:spPr>
          <a:xfrm rot="5400000">
            <a:off x="8860536" y="1801368"/>
            <a:ext cx="146304" cy="164592"/>
          </a:xfrm>
          <a:prstGeom prst="triangle">
            <a:avLst/>
          </a:prstGeom>
          <a:solidFill>
            <a:srgbClr val="0097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9966959" y="1554480"/>
            <a:ext cx="658368" cy="658368"/>
          </a:xfrm>
          <a:prstGeom prst="ellipse">
            <a:avLst/>
          </a:prstGeom>
          <a:solidFill>
            <a:srgbClr val="0097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966959" y="1591056"/>
            <a:ext cx="65836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1000"/>
              </a:spcAft>
            </a:pPr>
            <a:r>
              <a:rPr sz="2400" b="1">
                <a:solidFill>
                  <a:srgbClr val="FFFFFF"/>
                </a:solidFill>
                <a:latin typeface="微软雅黑"/>
                <a:ea typeface="微软雅黑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42832" y="2377440"/>
            <a:ext cx="26974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800" b="1">
                <a:solidFill>
                  <a:srgbClr val="2B2B2B"/>
                </a:solidFill>
                <a:latin typeface="微软雅黑"/>
                <a:ea typeface="微软雅黑"/>
              </a:rPr>
              <a:t>迭代优化</a:t>
            </a:r>
          </a:p>
          <a:p>
            <a:pPr algn="ctr">
              <a:spcBef>
                <a:spcPts val="0"/>
              </a:spcBef>
              <a:spcAft>
                <a:spcPts val="1000"/>
              </a:spcAft>
            </a:pPr>
            <a:r>
              <a:rPr sz="1400" b="0">
                <a:solidFill>
                  <a:srgbClr val="5F6B72"/>
                </a:solidFill>
                <a:latin typeface="微软雅黑"/>
                <a:ea typeface="微软雅黑"/>
              </a:rPr>
              <a:t>加功能、降成本
美化外观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0080" y="4206240"/>
            <a:ext cx="10908792" cy="914400"/>
          </a:xfrm>
          <a:prstGeom prst="roundRect">
            <a:avLst/>
          </a:prstGeom>
          <a:solidFill>
            <a:srgbClr val="FDED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14400" y="4370832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700" b="1">
                <a:solidFill>
                  <a:srgbClr val="2B2B2B"/>
                </a:solidFill>
                <a:latin typeface="微软雅黑"/>
                <a:ea typeface="微软雅黑"/>
              </a:rPr>
              <a:t>再想一步（双创思维）：谁会为它买单？成本多少？比现有方案好在哪？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5349240"/>
            <a:ext cx="1090879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1000"/>
              </a:spcAft>
            </a:pPr>
            <a:r>
              <a:rPr sz="1500" b="0">
                <a:solidFill>
                  <a:srgbClr val="5F6B72"/>
                </a:solidFill>
                <a:latin typeface="微软雅黑"/>
                <a:ea typeface="微软雅黑"/>
              </a:rPr>
              <a:t>下面 6 个项目都遵循这个逻辑 —— 每一个都可以是你的创业起点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0097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91440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200" b="0">
                <a:solidFill>
                  <a:srgbClr val="FFFFFF"/>
                </a:solidFill>
                <a:latin typeface="微软雅黑"/>
                <a:ea typeface="微软雅黑"/>
              </a:rPr>
              <a:t>03 · 创意项目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56032"/>
            <a:ext cx="10789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2600" b="1">
                <a:solidFill>
                  <a:srgbClr val="FFFFFF"/>
                </a:solidFill>
                <a:latin typeface="微软雅黑"/>
                <a:ea typeface="微软雅黑"/>
              </a:rPr>
              <a:t>项目 1：呼吸灯 &amp; 智能红绿灯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804672"/>
            <a:ext cx="822960" cy="4572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40080" y="6355080"/>
            <a:ext cx="10908792" cy="22860"/>
          </a:xfrm>
          <a:prstGeom prst="rect">
            <a:avLst/>
          </a:prstGeom>
          <a:solidFill>
            <a:srgbClr val="F1F4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6419088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100" b="0">
                <a:solidFill>
                  <a:srgbClr val="5F6B72"/>
                </a:solidFill>
                <a:latin typeface="微软雅黑"/>
                <a:ea typeface="微软雅黑"/>
              </a:rPr>
              <a:t>创新创业课程 · Arduino 开源硬件入门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19088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1000"/>
              </a:spcAft>
            </a:pPr>
            <a:r>
              <a:rPr sz="1100" b="0">
                <a:solidFill>
                  <a:srgbClr val="5F6B72"/>
                </a:solidFill>
                <a:latin typeface="微软雅黑"/>
                <a:ea typeface="微软雅黑"/>
              </a:rPr>
              <a:t>17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234440"/>
            <a:ext cx="4343400" cy="4480560"/>
          </a:xfrm>
          <a:prstGeom prst="roundRect">
            <a:avLst/>
          </a:prstGeom>
          <a:solidFill>
            <a:srgbClr val="F1F4F5"/>
          </a:solidFill>
          <a:ln w="15875">
            <a:solidFill>
              <a:srgbClr val="F1F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media-generation-projects-collage-0-7fdd1d03-444a-43ae-8167-009cd919e27c.png"/>
          <p:cNvPicPr>
            <a:picLocks noChangeAspect="1"/>
          </p:cNvPicPr>
          <p:nvPr/>
        </p:nvPicPr>
        <p:blipFill>
          <a:blip r:embed="rId2"/>
          <a:srcRect l="1800" t="1800" r="68467" b="51800"/>
          <a:stretch>
            <a:fillRect/>
          </a:stretch>
        </p:blipFill>
        <p:spPr>
          <a:xfrm>
            <a:off x="777240" y="1371600"/>
            <a:ext cx="4069080" cy="4206240"/>
          </a:xfrm>
          <a:prstGeom prst="rect">
            <a:avLst/>
          </a:prstGeom>
          <a:ln>
            <a:noFill/>
          </a:ln>
        </p:spPr>
      </p:pic>
      <p:sp>
        <p:nvSpPr>
          <p:cNvPr id="11" name="TextBox 10"/>
          <p:cNvSpPr txBox="1"/>
          <p:nvPr/>
        </p:nvSpPr>
        <p:spPr>
          <a:xfrm>
            <a:off x="5349240" y="1234440"/>
            <a:ext cx="61722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700" b="0">
                <a:solidFill>
                  <a:srgbClr val="2B2B2B"/>
                </a:solidFill>
                <a:latin typeface="微软雅黑"/>
                <a:ea typeface="微软雅黑"/>
              </a:rPr>
              <a:t>PWM 让 LED 像呼吸一样渐明渐暗；红黄绿三灯模拟路口时序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700" b="0">
                <a:solidFill>
                  <a:srgbClr val="2B2B2B"/>
                </a:solidFill>
                <a:latin typeface="微软雅黑"/>
                <a:ea typeface="微软雅黑"/>
              </a:rPr>
              <a:t>元件：Uno + 3 个 LED + 3 个 220Ω 电阻 + 面包板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700" b="0">
                <a:solidFill>
                  <a:srgbClr val="2B2B2B"/>
                </a:solidFill>
                <a:latin typeface="微软雅黑"/>
                <a:ea typeface="微软雅黑"/>
              </a:rPr>
              <a:t>学到：数字输出、PWM、delay 时序控制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700" b="1">
                <a:solidFill>
                  <a:srgbClr val="006B70"/>
                </a:solidFill>
                <a:latin typeface="微软雅黑"/>
                <a:ea typeface="微软雅黑"/>
              </a:rPr>
              <a:t>拓展：加超声波，车来自动切换 —— "智能斑马线"雏形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349240" y="5074920"/>
            <a:ext cx="6172200" cy="777240"/>
          </a:xfrm>
          <a:prstGeom prst="roundRect">
            <a:avLst/>
          </a:prstGeom>
          <a:solidFill>
            <a:srgbClr val="F1F4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577840" y="5193792"/>
            <a:ext cx="5760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500" b="1">
                <a:solidFill>
                  <a:srgbClr val="2B2B2B"/>
                </a:solidFill>
                <a:latin typeface="微软雅黑"/>
                <a:ea typeface="微软雅黑"/>
              </a:rPr>
              <a:t>难度 ★☆☆☆☆　·　成本约 ¥10　·　用时 1 课时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0097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91440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200" b="0">
                <a:solidFill>
                  <a:srgbClr val="FFFFFF"/>
                </a:solidFill>
                <a:latin typeface="微软雅黑"/>
                <a:ea typeface="微软雅黑"/>
              </a:rPr>
              <a:t>03 · 创意项目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56032"/>
            <a:ext cx="10789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2600" b="1">
                <a:solidFill>
                  <a:srgbClr val="FFFFFF"/>
                </a:solidFill>
                <a:latin typeface="微软雅黑"/>
                <a:ea typeface="微软雅黑"/>
              </a:rPr>
              <a:t>项目 2：超声波测距仪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804672"/>
            <a:ext cx="822960" cy="4572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40080" y="6355080"/>
            <a:ext cx="10908792" cy="22860"/>
          </a:xfrm>
          <a:prstGeom prst="rect">
            <a:avLst/>
          </a:prstGeom>
          <a:solidFill>
            <a:srgbClr val="F1F4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6419088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100" b="0">
                <a:solidFill>
                  <a:srgbClr val="5F6B72"/>
                </a:solidFill>
                <a:latin typeface="微软雅黑"/>
                <a:ea typeface="微软雅黑"/>
              </a:rPr>
              <a:t>创新创业课程 · Arduino 开源硬件入门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19088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1000"/>
              </a:spcAft>
            </a:pPr>
            <a:r>
              <a:rPr sz="1100" b="0">
                <a:solidFill>
                  <a:srgbClr val="5F6B72"/>
                </a:solidFill>
                <a:latin typeface="微软雅黑"/>
                <a:ea typeface="微软雅黑"/>
              </a:rPr>
              <a:t>18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234440"/>
            <a:ext cx="4343400" cy="4480560"/>
          </a:xfrm>
          <a:prstGeom prst="roundRect">
            <a:avLst/>
          </a:prstGeom>
          <a:solidFill>
            <a:srgbClr val="F1F4F5"/>
          </a:solidFill>
          <a:ln w="15875">
            <a:solidFill>
              <a:srgbClr val="F1F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media-generation-projects-collage-0-7fdd1d03-444a-43ae-8167-009cd919e27c.png"/>
          <p:cNvPicPr>
            <a:picLocks noChangeAspect="1"/>
          </p:cNvPicPr>
          <p:nvPr/>
        </p:nvPicPr>
        <p:blipFill>
          <a:blip r:embed="rId2"/>
          <a:srcRect l="35133" t="1800" r="35133" b="51800"/>
          <a:stretch>
            <a:fillRect/>
          </a:stretch>
        </p:blipFill>
        <p:spPr>
          <a:xfrm>
            <a:off x="777240" y="1371600"/>
            <a:ext cx="4069080" cy="4206240"/>
          </a:xfrm>
          <a:prstGeom prst="rect">
            <a:avLst/>
          </a:prstGeom>
          <a:ln>
            <a:noFill/>
          </a:ln>
        </p:spPr>
      </p:pic>
      <p:sp>
        <p:nvSpPr>
          <p:cNvPr id="11" name="TextBox 10"/>
          <p:cNvSpPr txBox="1"/>
          <p:nvPr/>
        </p:nvSpPr>
        <p:spPr>
          <a:xfrm>
            <a:off x="5349240" y="1234440"/>
            <a:ext cx="61722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700" b="0">
                <a:solidFill>
                  <a:srgbClr val="2B2B2B"/>
                </a:solidFill>
                <a:latin typeface="微软雅黑"/>
                <a:ea typeface="微软雅黑"/>
              </a:rPr>
              <a:t>HC-SR04 发射超声波并计时回波，OLED 实时显示距离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700" b="0">
                <a:solidFill>
                  <a:srgbClr val="2B2B2B"/>
                </a:solidFill>
                <a:latin typeface="微软雅黑"/>
                <a:ea typeface="微软雅黑"/>
              </a:rPr>
              <a:t>元件：Uno + HC-SR04 + OLED 显示屏（I2C，四根线搞定）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700" b="0">
                <a:solidFill>
                  <a:srgbClr val="2B2B2B"/>
                </a:solidFill>
                <a:latin typeface="微软雅黑"/>
                <a:ea typeface="微软雅黑"/>
              </a:rPr>
              <a:t>学到：脉冲测时、串口监视器、I2C 显示库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700" b="1">
                <a:solidFill>
                  <a:srgbClr val="006B70"/>
                </a:solidFill>
                <a:latin typeface="微软雅黑"/>
                <a:ea typeface="微软雅黑"/>
              </a:rPr>
              <a:t>拓展：改装"身高测量仪"放教室门口，或车位检测器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349240" y="5074920"/>
            <a:ext cx="6172200" cy="777240"/>
          </a:xfrm>
          <a:prstGeom prst="roundRect">
            <a:avLst/>
          </a:prstGeom>
          <a:solidFill>
            <a:srgbClr val="F1F4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577840" y="5193792"/>
            <a:ext cx="5760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500" b="1">
                <a:solidFill>
                  <a:srgbClr val="2B2B2B"/>
                </a:solidFill>
                <a:latin typeface="微软雅黑"/>
                <a:ea typeface="微软雅黑"/>
              </a:rPr>
              <a:t>难度 ★★☆☆☆　·　成本约 ¥40　·　用时 2 课时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0097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91440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200" b="0">
                <a:solidFill>
                  <a:srgbClr val="FFFFFF"/>
                </a:solidFill>
                <a:latin typeface="微软雅黑"/>
                <a:ea typeface="微软雅黑"/>
              </a:rPr>
              <a:t>03 · 创意项目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56032"/>
            <a:ext cx="10789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2600" b="1">
                <a:solidFill>
                  <a:srgbClr val="FFFFFF"/>
                </a:solidFill>
                <a:latin typeface="微软雅黑"/>
                <a:ea typeface="微软雅黑"/>
              </a:rPr>
              <a:t>项目 3：温湿度显示站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804672"/>
            <a:ext cx="822960" cy="4572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40080" y="6355080"/>
            <a:ext cx="10908792" cy="22860"/>
          </a:xfrm>
          <a:prstGeom prst="rect">
            <a:avLst/>
          </a:prstGeom>
          <a:solidFill>
            <a:srgbClr val="F1F4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6419088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100" b="0">
                <a:solidFill>
                  <a:srgbClr val="5F6B72"/>
                </a:solidFill>
                <a:latin typeface="微软雅黑"/>
                <a:ea typeface="微软雅黑"/>
              </a:rPr>
              <a:t>创新创业课程 · Arduino 开源硬件入门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19088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1000"/>
              </a:spcAft>
            </a:pPr>
            <a:r>
              <a:rPr sz="1100" b="0">
                <a:solidFill>
                  <a:srgbClr val="5F6B72"/>
                </a:solidFill>
                <a:latin typeface="微软雅黑"/>
                <a:ea typeface="微软雅黑"/>
              </a:rPr>
              <a:t>19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234440"/>
            <a:ext cx="4343400" cy="4480560"/>
          </a:xfrm>
          <a:prstGeom prst="roundRect">
            <a:avLst/>
          </a:prstGeom>
          <a:solidFill>
            <a:srgbClr val="F1F4F5"/>
          </a:solidFill>
          <a:ln w="15875">
            <a:solidFill>
              <a:srgbClr val="F1F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media-generation-projects-collage-0-7fdd1d03-444a-43ae-8167-009cd919e27c.png"/>
          <p:cNvPicPr>
            <a:picLocks noChangeAspect="1"/>
          </p:cNvPicPr>
          <p:nvPr/>
        </p:nvPicPr>
        <p:blipFill>
          <a:blip r:embed="rId2"/>
          <a:srcRect l="68467" t="1800" r="1800" b="51800"/>
          <a:stretch>
            <a:fillRect/>
          </a:stretch>
        </p:blipFill>
        <p:spPr>
          <a:xfrm>
            <a:off x="777240" y="1371600"/>
            <a:ext cx="4069080" cy="4206240"/>
          </a:xfrm>
          <a:prstGeom prst="rect">
            <a:avLst/>
          </a:prstGeom>
          <a:ln>
            <a:noFill/>
          </a:ln>
        </p:spPr>
      </p:pic>
      <p:sp>
        <p:nvSpPr>
          <p:cNvPr id="11" name="TextBox 10"/>
          <p:cNvSpPr txBox="1"/>
          <p:nvPr/>
        </p:nvSpPr>
        <p:spPr>
          <a:xfrm>
            <a:off x="5349240" y="1234440"/>
            <a:ext cx="61722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700" b="0">
                <a:solidFill>
                  <a:srgbClr val="2B2B2B"/>
                </a:solidFill>
                <a:latin typeface="微软雅黑"/>
                <a:ea typeface="微软雅黑"/>
              </a:rPr>
              <a:t>DHT11 采集温湿度，OLED 实时显示，可设高温报警阈值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700" b="0">
                <a:solidFill>
                  <a:srgbClr val="2B2B2B"/>
                </a:solidFill>
                <a:latin typeface="微软雅黑"/>
                <a:ea typeface="微软雅黑"/>
              </a:rPr>
              <a:t>元件：Uno + DHT11 模块 + OLED + 蜂鸣器（报警用）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700" b="0">
                <a:solidFill>
                  <a:srgbClr val="2B2B2B"/>
                </a:solidFill>
                <a:latin typeface="微软雅黑"/>
                <a:ea typeface="微软雅黑"/>
              </a:rPr>
              <a:t>学到：传感器库函数、阈值判断逻辑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700" b="1">
                <a:solidFill>
                  <a:srgbClr val="006B70"/>
                </a:solidFill>
                <a:latin typeface="微软雅黑"/>
                <a:ea typeface="微软雅黑"/>
              </a:rPr>
              <a:t>拓展：换 ESP32 上传云端 —— 这就是"物联网"的入口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349240" y="5074920"/>
            <a:ext cx="6172200" cy="777240"/>
          </a:xfrm>
          <a:prstGeom prst="roundRect">
            <a:avLst/>
          </a:prstGeom>
          <a:solidFill>
            <a:srgbClr val="F1F4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577840" y="5193792"/>
            <a:ext cx="5760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500" b="1">
                <a:solidFill>
                  <a:srgbClr val="2B2B2B"/>
                </a:solidFill>
                <a:latin typeface="微软雅黑"/>
                <a:ea typeface="微软雅黑"/>
              </a:rPr>
              <a:t>难度 ★★☆☆☆　·　成本约 ¥45　·　用时 2 课时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0097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91440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200" b="0">
                <a:solidFill>
                  <a:srgbClr val="FFFFFF"/>
                </a:solidFill>
                <a:latin typeface="微软雅黑"/>
                <a:ea typeface="微软雅黑"/>
              </a:rPr>
              <a:t>03 · 创意项目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56032"/>
            <a:ext cx="10789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2600" b="1">
                <a:solidFill>
                  <a:srgbClr val="FFFFFF"/>
                </a:solidFill>
                <a:latin typeface="微软雅黑"/>
                <a:ea typeface="微软雅黑"/>
              </a:rPr>
              <a:t>项目 4：自动浇花器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804672"/>
            <a:ext cx="822960" cy="4572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40080" y="6355080"/>
            <a:ext cx="10908792" cy="22860"/>
          </a:xfrm>
          <a:prstGeom prst="rect">
            <a:avLst/>
          </a:prstGeom>
          <a:solidFill>
            <a:srgbClr val="F1F4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6419088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100" b="0">
                <a:solidFill>
                  <a:srgbClr val="5F6B72"/>
                </a:solidFill>
                <a:latin typeface="微软雅黑"/>
                <a:ea typeface="微软雅黑"/>
              </a:rPr>
              <a:t>创新创业课程 · Arduino 开源硬件入门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19088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1000"/>
              </a:spcAft>
            </a:pPr>
            <a:r>
              <a:rPr sz="1100" b="0">
                <a:solidFill>
                  <a:srgbClr val="5F6B72"/>
                </a:solidFill>
                <a:latin typeface="微软雅黑"/>
                <a:ea typeface="微软雅黑"/>
              </a:rPr>
              <a:t>20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234440"/>
            <a:ext cx="4343400" cy="4480560"/>
          </a:xfrm>
          <a:prstGeom prst="roundRect">
            <a:avLst/>
          </a:prstGeom>
          <a:solidFill>
            <a:srgbClr val="F1F4F5"/>
          </a:solidFill>
          <a:ln w="15875">
            <a:solidFill>
              <a:srgbClr val="F1F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media-generation-projects-collage-0-7fdd1d03-444a-43ae-8167-009cd919e27c.png"/>
          <p:cNvPicPr>
            <a:picLocks noChangeAspect="1"/>
          </p:cNvPicPr>
          <p:nvPr/>
        </p:nvPicPr>
        <p:blipFill>
          <a:blip r:embed="rId2"/>
          <a:srcRect l="1800" t="51800" r="68467" b="1800"/>
          <a:stretch>
            <a:fillRect/>
          </a:stretch>
        </p:blipFill>
        <p:spPr>
          <a:xfrm>
            <a:off x="777240" y="1371600"/>
            <a:ext cx="4069080" cy="4206240"/>
          </a:xfrm>
          <a:prstGeom prst="rect">
            <a:avLst/>
          </a:prstGeom>
          <a:ln>
            <a:noFill/>
          </a:ln>
        </p:spPr>
      </p:pic>
      <p:sp>
        <p:nvSpPr>
          <p:cNvPr id="11" name="TextBox 10"/>
          <p:cNvSpPr txBox="1"/>
          <p:nvPr/>
        </p:nvSpPr>
        <p:spPr>
          <a:xfrm>
            <a:off x="5349240" y="1234440"/>
            <a:ext cx="61722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700" b="0">
                <a:solidFill>
                  <a:srgbClr val="2B2B2B"/>
                </a:solidFill>
                <a:latin typeface="微软雅黑"/>
                <a:ea typeface="微软雅黑"/>
              </a:rPr>
              <a:t>土壤湿度低于阈值，继电器自动启动水泵浇水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700" b="0">
                <a:solidFill>
                  <a:srgbClr val="2B2B2B"/>
                </a:solidFill>
                <a:latin typeface="微软雅黑"/>
                <a:ea typeface="微软雅黑"/>
              </a:rPr>
              <a:t>元件：Uno + 土壤湿度传感器 + 继电器 + 微型水泵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700" b="0">
                <a:solidFill>
                  <a:srgbClr val="2B2B2B"/>
                </a:solidFill>
                <a:latin typeface="微软雅黑"/>
                <a:ea typeface="微软雅黑"/>
              </a:rPr>
              <a:t>学到：模拟量读取、阈值控制、继电器隔离大功率负载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700" b="1">
                <a:solidFill>
                  <a:srgbClr val="006B70"/>
                </a:solidFill>
                <a:latin typeface="微软雅黑"/>
                <a:ea typeface="微软雅黑"/>
              </a:rPr>
              <a:t>拓展：加 ESP32 联网，手机远程看湿度 —— 阳台菜园自动化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349240" y="5074920"/>
            <a:ext cx="6172200" cy="777240"/>
          </a:xfrm>
          <a:prstGeom prst="roundRect">
            <a:avLst/>
          </a:prstGeom>
          <a:solidFill>
            <a:srgbClr val="F1F4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577840" y="5193792"/>
            <a:ext cx="5760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500" b="1">
                <a:solidFill>
                  <a:srgbClr val="2B2B2B"/>
                </a:solidFill>
                <a:latin typeface="微软雅黑"/>
                <a:ea typeface="微软雅黑"/>
              </a:rPr>
              <a:t>难度 ★★★☆☆　·　成本约 ¥80　·　用时半天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0097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91440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200" b="0">
                <a:solidFill>
                  <a:srgbClr val="FFFFFF"/>
                </a:solidFill>
                <a:latin typeface="微软雅黑"/>
                <a:ea typeface="微软雅黑"/>
              </a:rPr>
              <a:t>03 · 创意项目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56032"/>
            <a:ext cx="10789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2600" b="1">
                <a:solidFill>
                  <a:srgbClr val="FFFFFF"/>
                </a:solidFill>
                <a:latin typeface="微软雅黑"/>
                <a:ea typeface="微软雅黑"/>
              </a:rPr>
              <a:t>项目 5：蓝牙遥控小车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804672"/>
            <a:ext cx="822960" cy="4572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40080" y="6355080"/>
            <a:ext cx="10908792" cy="22860"/>
          </a:xfrm>
          <a:prstGeom prst="rect">
            <a:avLst/>
          </a:prstGeom>
          <a:solidFill>
            <a:srgbClr val="F1F4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6419088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100" b="0">
                <a:solidFill>
                  <a:srgbClr val="5F6B72"/>
                </a:solidFill>
                <a:latin typeface="微软雅黑"/>
                <a:ea typeface="微软雅黑"/>
              </a:rPr>
              <a:t>创新创业课程 · Arduino 开源硬件入门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19088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1000"/>
              </a:spcAft>
            </a:pPr>
            <a:r>
              <a:rPr sz="1100" b="0">
                <a:solidFill>
                  <a:srgbClr val="5F6B72"/>
                </a:solidFill>
                <a:latin typeface="微软雅黑"/>
                <a:ea typeface="微软雅黑"/>
              </a:rPr>
              <a:t>21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234440"/>
            <a:ext cx="4343400" cy="4480560"/>
          </a:xfrm>
          <a:prstGeom prst="roundRect">
            <a:avLst/>
          </a:prstGeom>
          <a:solidFill>
            <a:srgbClr val="F1F4F5"/>
          </a:solidFill>
          <a:ln w="15875">
            <a:solidFill>
              <a:srgbClr val="F1F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media-generation-projects-collage-0-7fdd1d03-444a-43ae-8167-009cd919e27c.png"/>
          <p:cNvPicPr>
            <a:picLocks noChangeAspect="1"/>
          </p:cNvPicPr>
          <p:nvPr/>
        </p:nvPicPr>
        <p:blipFill>
          <a:blip r:embed="rId2"/>
          <a:srcRect l="35133" t="51800" r="35133" b="1800"/>
          <a:stretch>
            <a:fillRect/>
          </a:stretch>
        </p:blipFill>
        <p:spPr>
          <a:xfrm>
            <a:off x="777240" y="1371600"/>
            <a:ext cx="4069080" cy="4206240"/>
          </a:xfrm>
          <a:prstGeom prst="rect">
            <a:avLst/>
          </a:prstGeom>
          <a:ln>
            <a:noFill/>
          </a:ln>
        </p:spPr>
      </p:pic>
      <p:sp>
        <p:nvSpPr>
          <p:cNvPr id="11" name="TextBox 10"/>
          <p:cNvSpPr txBox="1"/>
          <p:nvPr/>
        </p:nvSpPr>
        <p:spPr>
          <a:xfrm>
            <a:off x="5349240" y="1234440"/>
            <a:ext cx="61722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700" b="0">
                <a:solidFill>
                  <a:srgbClr val="2B2B2B"/>
                </a:solidFill>
                <a:latin typeface="微软雅黑"/>
                <a:ea typeface="微软雅黑"/>
              </a:rPr>
              <a:t>手机 App 经蓝牙发指令，小车前进后退转弯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700" b="0">
                <a:solidFill>
                  <a:srgbClr val="2B2B2B"/>
                </a:solidFill>
                <a:latin typeface="微软雅黑"/>
                <a:ea typeface="微软雅黑"/>
              </a:rPr>
              <a:t>元件：Uno + TT 电机底盘 + L298N 驱动 + HC-05 蓝牙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700" b="0">
                <a:solidFill>
                  <a:srgbClr val="2B2B2B"/>
                </a:solidFill>
                <a:latin typeface="微软雅黑"/>
                <a:ea typeface="微软雅黑"/>
              </a:rPr>
              <a:t>学到：电机驱动原理、串口蓝牙通信、手机联调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700" b="1">
                <a:solidFill>
                  <a:srgbClr val="006B70"/>
                </a:solidFill>
                <a:latin typeface="微软雅黑"/>
                <a:ea typeface="微软雅黑"/>
              </a:rPr>
              <a:t>拓展：加循迹 / 避障传感器，改造成自动驾驶小车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349240" y="5074920"/>
            <a:ext cx="6172200" cy="777240"/>
          </a:xfrm>
          <a:prstGeom prst="roundRect">
            <a:avLst/>
          </a:prstGeom>
          <a:solidFill>
            <a:srgbClr val="F1F4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577840" y="5193792"/>
            <a:ext cx="5760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500" b="1">
                <a:solidFill>
                  <a:srgbClr val="2B2B2B"/>
                </a:solidFill>
                <a:latin typeface="微软雅黑"/>
                <a:ea typeface="微软雅黑"/>
              </a:rPr>
              <a:t>难度 ★★★★☆　·　成本约 ¥120–150　·　用时 1–2 天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0097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91440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200" b="0">
                <a:solidFill>
                  <a:srgbClr val="FFFFFF"/>
                </a:solidFill>
                <a:latin typeface="微软雅黑"/>
                <a:ea typeface="微软雅黑"/>
              </a:rPr>
              <a:t>03 · 创意项目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56032"/>
            <a:ext cx="10789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2600" b="1">
                <a:solidFill>
                  <a:srgbClr val="FFFFFF"/>
                </a:solidFill>
                <a:latin typeface="微软雅黑"/>
                <a:ea typeface="微软雅黑"/>
              </a:rPr>
              <a:t>项目 6：智能垃圾桶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804672"/>
            <a:ext cx="822960" cy="4572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40080" y="6355080"/>
            <a:ext cx="10908792" cy="22860"/>
          </a:xfrm>
          <a:prstGeom prst="rect">
            <a:avLst/>
          </a:prstGeom>
          <a:solidFill>
            <a:srgbClr val="F1F4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6419088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100" b="0">
                <a:solidFill>
                  <a:srgbClr val="5F6B72"/>
                </a:solidFill>
                <a:latin typeface="微软雅黑"/>
                <a:ea typeface="微软雅黑"/>
              </a:rPr>
              <a:t>创新创业课程 · Arduino 开源硬件入门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19088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1000"/>
              </a:spcAft>
            </a:pPr>
            <a:r>
              <a:rPr sz="1100" b="0">
                <a:solidFill>
                  <a:srgbClr val="5F6B72"/>
                </a:solidFill>
                <a:latin typeface="微软雅黑"/>
                <a:ea typeface="微软雅黑"/>
              </a:rPr>
              <a:t>22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234440"/>
            <a:ext cx="4343400" cy="4480560"/>
          </a:xfrm>
          <a:prstGeom prst="roundRect">
            <a:avLst/>
          </a:prstGeom>
          <a:solidFill>
            <a:srgbClr val="F1F4F5"/>
          </a:solidFill>
          <a:ln w="15875">
            <a:solidFill>
              <a:srgbClr val="F1F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media-generation-projects-collage-0-7fdd1d03-444a-43ae-8167-009cd919e27c.png"/>
          <p:cNvPicPr>
            <a:picLocks noChangeAspect="1"/>
          </p:cNvPicPr>
          <p:nvPr/>
        </p:nvPicPr>
        <p:blipFill>
          <a:blip r:embed="rId2"/>
          <a:srcRect l="68467" t="51800" r="1800" b="1800"/>
          <a:stretch>
            <a:fillRect/>
          </a:stretch>
        </p:blipFill>
        <p:spPr>
          <a:xfrm>
            <a:off x="777240" y="1371600"/>
            <a:ext cx="4069080" cy="4206240"/>
          </a:xfrm>
          <a:prstGeom prst="rect">
            <a:avLst/>
          </a:prstGeom>
          <a:ln>
            <a:noFill/>
          </a:ln>
        </p:spPr>
      </p:pic>
      <p:sp>
        <p:nvSpPr>
          <p:cNvPr id="11" name="TextBox 10"/>
          <p:cNvSpPr txBox="1"/>
          <p:nvPr/>
        </p:nvSpPr>
        <p:spPr>
          <a:xfrm>
            <a:off x="5349240" y="1234440"/>
            <a:ext cx="61722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700" b="0">
                <a:solidFill>
                  <a:srgbClr val="2B2B2B"/>
                </a:solidFill>
                <a:latin typeface="微软雅黑"/>
                <a:ea typeface="微软雅黑"/>
              </a:rPr>
              <a:t>手靠近时超声波检测距离变化，舵机自动掀盖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700" b="0">
                <a:solidFill>
                  <a:srgbClr val="2B2B2B"/>
                </a:solidFill>
                <a:latin typeface="微软雅黑"/>
                <a:ea typeface="微软雅黑"/>
              </a:rPr>
              <a:t>元件：Uno + HC-SR04 + SG90 舵机 + 纸箱做桶身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700" b="0">
                <a:solidFill>
                  <a:srgbClr val="2B2B2B"/>
                </a:solidFill>
                <a:latin typeface="微软雅黑"/>
                <a:ea typeface="微软雅黑"/>
              </a:rPr>
              <a:t>学到：舵机角度控制、开盖—延时—关盖状态机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700" b="1">
                <a:solidFill>
                  <a:srgbClr val="006B70"/>
                </a:solidFill>
                <a:latin typeface="微软雅黑"/>
                <a:ea typeface="微软雅黑"/>
              </a:rPr>
              <a:t>拓展：桶内加超声波做"满溢提醒" —— 可直接参加双创赛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349240" y="5074920"/>
            <a:ext cx="6172200" cy="777240"/>
          </a:xfrm>
          <a:prstGeom prst="roundRect">
            <a:avLst/>
          </a:prstGeom>
          <a:solidFill>
            <a:srgbClr val="F1F4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577840" y="5193792"/>
            <a:ext cx="5760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500" b="1">
                <a:solidFill>
                  <a:srgbClr val="2B2B2B"/>
                </a:solidFill>
                <a:latin typeface="微软雅黑"/>
                <a:ea typeface="微软雅黑"/>
              </a:rPr>
              <a:t>难度 ★★★☆☆　·　成本约 ¥70　·　用时半天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0097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91440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200" b="0">
                <a:solidFill>
                  <a:srgbClr val="FFFFFF"/>
                </a:solidFill>
                <a:latin typeface="微软雅黑"/>
                <a:ea typeface="微软雅黑"/>
              </a:rPr>
              <a:t>03 · 创意项目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56032"/>
            <a:ext cx="10789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2600" b="1">
                <a:solidFill>
                  <a:srgbClr val="FFFFFF"/>
                </a:solidFill>
                <a:latin typeface="微软雅黑"/>
                <a:ea typeface="微软雅黑"/>
              </a:rPr>
              <a:t>项目物料预算总览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804672"/>
            <a:ext cx="822960" cy="4572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40080" y="6355080"/>
            <a:ext cx="10908792" cy="22860"/>
          </a:xfrm>
          <a:prstGeom prst="rect">
            <a:avLst/>
          </a:prstGeom>
          <a:solidFill>
            <a:srgbClr val="F1F4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6419088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100" b="0">
                <a:solidFill>
                  <a:srgbClr val="5F6B72"/>
                </a:solidFill>
                <a:latin typeface="微软雅黑"/>
                <a:ea typeface="微软雅黑"/>
              </a:rPr>
              <a:t>创新创业课程 · Arduino 开源硬件入门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19088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1000"/>
              </a:spcAft>
            </a:pPr>
            <a:r>
              <a:rPr sz="1100" b="0">
                <a:solidFill>
                  <a:srgbClr val="5F6B72"/>
                </a:solidFill>
                <a:latin typeface="微软雅黑"/>
                <a:ea typeface="微软雅黑"/>
              </a:rPr>
              <a:t>23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40080" y="1325880"/>
          <a:ext cx="10908792" cy="429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58775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13954"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sz="17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项目</a:t>
                      </a:r>
                    </a:p>
                  </a:txBody>
                  <a:tcPr>
                    <a:solidFill>
                      <a:srgbClr val="00979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sz="17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核心元件</a:t>
                      </a:r>
                    </a:p>
                  </a:txBody>
                  <a:tcPr>
                    <a:solidFill>
                      <a:srgbClr val="00979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sz="17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参考成本</a:t>
                      </a:r>
                    </a:p>
                  </a:txBody>
                  <a:tcPr>
                    <a:solidFill>
                      <a:srgbClr val="00979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sz="17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难度</a:t>
                      </a:r>
                    </a:p>
                  </a:txBody>
                  <a:tcPr>
                    <a:solidFill>
                      <a:srgbClr val="00979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sz="17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用时</a:t>
                      </a:r>
                    </a:p>
                  </a:txBody>
                  <a:tcPr>
                    <a:solidFill>
                      <a:srgbClr val="00979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3954"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sz="1600" b="0">
                          <a:solidFill>
                            <a:srgbClr val="2B2B2B"/>
                          </a:solidFill>
                          <a:latin typeface="微软雅黑"/>
                          <a:ea typeface="微软雅黑"/>
                        </a:rPr>
                        <a:t>呼吸灯 / 红绿灯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sz="1600" b="0">
                          <a:solidFill>
                            <a:srgbClr val="2B2B2B"/>
                          </a:solidFill>
                          <a:latin typeface="微软雅黑"/>
                          <a:ea typeface="微软雅黑"/>
                        </a:rPr>
                        <a:t>LED、电阻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sz="1600" b="0">
                          <a:solidFill>
                            <a:srgbClr val="2B2B2B"/>
                          </a:solidFill>
                          <a:latin typeface="微软雅黑"/>
                          <a:ea typeface="微软雅黑"/>
                        </a:rPr>
                        <a:t>约 ¥10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sz="1600" b="0">
                          <a:solidFill>
                            <a:srgbClr val="2B2B2B"/>
                          </a:solidFill>
                          <a:latin typeface="微软雅黑"/>
                          <a:ea typeface="微软雅黑"/>
                        </a:rPr>
                        <a:t>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sz="1600" b="0">
                          <a:solidFill>
                            <a:srgbClr val="2B2B2B"/>
                          </a:solidFill>
                          <a:latin typeface="微软雅黑"/>
                          <a:ea typeface="微软雅黑"/>
                        </a:rPr>
                        <a:t>1 课时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3954"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sz="1600" b="0">
                          <a:solidFill>
                            <a:srgbClr val="2B2B2B"/>
                          </a:solidFill>
                          <a:latin typeface="微软雅黑"/>
                          <a:ea typeface="微软雅黑"/>
                        </a:rPr>
                        <a:t>超声波测距仪</a:t>
                      </a:r>
                    </a:p>
                  </a:txBody>
                  <a:tcPr>
                    <a:solidFill>
                      <a:srgbClr val="F1F4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sz="1600" b="0">
                          <a:solidFill>
                            <a:srgbClr val="2B2B2B"/>
                          </a:solidFill>
                          <a:latin typeface="微软雅黑"/>
                          <a:ea typeface="微软雅黑"/>
                        </a:rPr>
                        <a:t>HC-SR04、OLED</a:t>
                      </a:r>
                    </a:p>
                  </a:txBody>
                  <a:tcPr>
                    <a:solidFill>
                      <a:srgbClr val="F1F4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sz="1600" b="0">
                          <a:solidFill>
                            <a:srgbClr val="2B2B2B"/>
                          </a:solidFill>
                          <a:latin typeface="微软雅黑"/>
                          <a:ea typeface="微软雅黑"/>
                        </a:rPr>
                        <a:t>约 ¥40</a:t>
                      </a:r>
                    </a:p>
                  </a:txBody>
                  <a:tcPr>
                    <a:solidFill>
                      <a:srgbClr val="F1F4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sz="1600" b="0">
                          <a:solidFill>
                            <a:srgbClr val="2B2B2B"/>
                          </a:solidFill>
                          <a:latin typeface="微软雅黑"/>
                          <a:ea typeface="微软雅黑"/>
                        </a:rPr>
                        <a:t>★★</a:t>
                      </a:r>
                    </a:p>
                  </a:txBody>
                  <a:tcPr>
                    <a:solidFill>
                      <a:srgbClr val="F1F4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sz="1600" b="0">
                          <a:solidFill>
                            <a:srgbClr val="2B2B2B"/>
                          </a:solidFill>
                          <a:latin typeface="微软雅黑"/>
                          <a:ea typeface="微软雅黑"/>
                        </a:rPr>
                        <a:t>2 课时</a:t>
                      </a:r>
                    </a:p>
                  </a:txBody>
                  <a:tcPr>
                    <a:solidFill>
                      <a:srgbClr val="F1F4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13954"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sz="1600" b="0">
                          <a:solidFill>
                            <a:srgbClr val="2B2B2B"/>
                          </a:solidFill>
                          <a:latin typeface="微软雅黑"/>
                          <a:ea typeface="微软雅黑"/>
                        </a:rPr>
                        <a:t>温湿度显示站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sz="1600" b="0">
                          <a:solidFill>
                            <a:srgbClr val="2B2B2B"/>
                          </a:solidFill>
                          <a:latin typeface="微软雅黑"/>
                          <a:ea typeface="微软雅黑"/>
                        </a:rPr>
                        <a:t>DHT11、OLED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sz="1600" b="0">
                          <a:solidFill>
                            <a:srgbClr val="2B2B2B"/>
                          </a:solidFill>
                          <a:latin typeface="微软雅黑"/>
                          <a:ea typeface="微软雅黑"/>
                        </a:rPr>
                        <a:t>约 ¥45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sz="1600" b="0">
                          <a:solidFill>
                            <a:srgbClr val="2B2B2B"/>
                          </a:solidFill>
                          <a:latin typeface="微软雅黑"/>
                          <a:ea typeface="微软雅黑"/>
                        </a:rPr>
                        <a:t>★★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sz="1600" b="0">
                          <a:solidFill>
                            <a:srgbClr val="2B2B2B"/>
                          </a:solidFill>
                          <a:latin typeface="微软雅黑"/>
                          <a:ea typeface="微软雅黑"/>
                        </a:rPr>
                        <a:t>2 课时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13954"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sz="1600" b="0">
                          <a:solidFill>
                            <a:srgbClr val="2B2B2B"/>
                          </a:solidFill>
                          <a:latin typeface="微软雅黑"/>
                          <a:ea typeface="微软雅黑"/>
                        </a:rPr>
                        <a:t>自动浇花器</a:t>
                      </a:r>
                    </a:p>
                  </a:txBody>
                  <a:tcPr>
                    <a:solidFill>
                      <a:srgbClr val="F1F4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sz="1600" b="0">
                          <a:solidFill>
                            <a:srgbClr val="2B2B2B"/>
                          </a:solidFill>
                          <a:latin typeface="微软雅黑"/>
                          <a:ea typeface="微软雅黑"/>
                        </a:rPr>
                        <a:t>土壤湿度、继电器、水泵</a:t>
                      </a:r>
                    </a:p>
                  </a:txBody>
                  <a:tcPr>
                    <a:solidFill>
                      <a:srgbClr val="F1F4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sz="1600" b="0">
                          <a:solidFill>
                            <a:srgbClr val="2B2B2B"/>
                          </a:solidFill>
                          <a:latin typeface="微软雅黑"/>
                          <a:ea typeface="微软雅黑"/>
                        </a:rPr>
                        <a:t>约 ¥80</a:t>
                      </a:r>
                    </a:p>
                  </a:txBody>
                  <a:tcPr>
                    <a:solidFill>
                      <a:srgbClr val="F1F4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sz="1600" b="0">
                          <a:solidFill>
                            <a:srgbClr val="2B2B2B"/>
                          </a:solidFill>
                          <a:latin typeface="微软雅黑"/>
                          <a:ea typeface="微软雅黑"/>
                        </a:rPr>
                        <a:t>★★★</a:t>
                      </a:r>
                    </a:p>
                  </a:txBody>
                  <a:tcPr>
                    <a:solidFill>
                      <a:srgbClr val="F1F4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sz="1600" b="0">
                          <a:solidFill>
                            <a:srgbClr val="2B2B2B"/>
                          </a:solidFill>
                          <a:latin typeface="微软雅黑"/>
                          <a:ea typeface="微软雅黑"/>
                        </a:rPr>
                        <a:t>半天</a:t>
                      </a:r>
                    </a:p>
                  </a:txBody>
                  <a:tcPr>
                    <a:solidFill>
                      <a:srgbClr val="F1F4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13954"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sz="1600" b="0">
                          <a:solidFill>
                            <a:srgbClr val="2B2B2B"/>
                          </a:solidFill>
                          <a:latin typeface="微软雅黑"/>
                          <a:ea typeface="微软雅黑"/>
                        </a:rPr>
                        <a:t>蓝牙遥控小车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sz="1600" b="0">
                          <a:solidFill>
                            <a:srgbClr val="2B2B2B"/>
                          </a:solidFill>
                          <a:latin typeface="微软雅黑"/>
                          <a:ea typeface="微软雅黑"/>
                        </a:rPr>
                        <a:t>TT 底盘、L298N、HC-05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sz="1600" b="0">
                          <a:solidFill>
                            <a:srgbClr val="2B2B2B"/>
                          </a:solidFill>
                          <a:latin typeface="微软雅黑"/>
                          <a:ea typeface="微软雅黑"/>
                        </a:rPr>
                        <a:t>约 ¥120–150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sz="1600" b="0">
                          <a:solidFill>
                            <a:srgbClr val="2B2B2B"/>
                          </a:solidFill>
                          <a:latin typeface="微软雅黑"/>
                          <a:ea typeface="微软雅黑"/>
                        </a:rPr>
                        <a:t>★★★★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sz="1600" b="0">
                          <a:solidFill>
                            <a:srgbClr val="2B2B2B"/>
                          </a:solidFill>
                          <a:latin typeface="微软雅黑"/>
                          <a:ea typeface="微软雅黑"/>
                        </a:rPr>
                        <a:t>1–2 天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13956"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sz="1600" b="0">
                          <a:solidFill>
                            <a:srgbClr val="2B2B2B"/>
                          </a:solidFill>
                          <a:latin typeface="微软雅黑"/>
                          <a:ea typeface="微软雅黑"/>
                        </a:rPr>
                        <a:t>智能垃圾桶</a:t>
                      </a:r>
                    </a:p>
                  </a:txBody>
                  <a:tcPr>
                    <a:solidFill>
                      <a:srgbClr val="F1F4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sz="1600" b="0">
                          <a:solidFill>
                            <a:srgbClr val="2B2B2B"/>
                          </a:solidFill>
                          <a:latin typeface="微软雅黑"/>
                          <a:ea typeface="微软雅黑"/>
                        </a:rPr>
                        <a:t>HC-SR04、SG90 舵机</a:t>
                      </a:r>
                    </a:p>
                  </a:txBody>
                  <a:tcPr>
                    <a:solidFill>
                      <a:srgbClr val="F1F4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sz="1600" b="0">
                          <a:solidFill>
                            <a:srgbClr val="2B2B2B"/>
                          </a:solidFill>
                          <a:latin typeface="微软雅黑"/>
                          <a:ea typeface="微软雅黑"/>
                        </a:rPr>
                        <a:t>约 ¥70</a:t>
                      </a:r>
                    </a:p>
                  </a:txBody>
                  <a:tcPr>
                    <a:solidFill>
                      <a:srgbClr val="F1F4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sz="1600" b="0">
                          <a:solidFill>
                            <a:srgbClr val="2B2B2B"/>
                          </a:solidFill>
                          <a:latin typeface="微软雅黑"/>
                          <a:ea typeface="微软雅黑"/>
                        </a:rPr>
                        <a:t>★★★</a:t>
                      </a:r>
                    </a:p>
                  </a:txBody>
                  <a:tcPr>
                    <a:solidFill>
                      <a:srgbClr val="F1F4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sz="1600" b="0">
                          <a:solidFill>
                            <a:srgbClr val="2B2B2B"/>
                          </a:solidFill>
                          <a:latin typeface="微软雅黑"/>
                          <a:ea typeface="微软雅黑"/>
                        </a:rPr>
                        <a:t>半天</a:t>
                      </a:r>
                    </a:p>
                  </a:txBody>
                  <a:tcPr>
                    <a:solidFill>
                      <a:srgbClr val="F1F4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40080" y="5806440"/>
            <a:ext cx="1090879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500" b="0">
                <a:solidFill>
                  <a:srgbClr val="5F6B72"/>
                </a:solidFill>
                <a:latin typeface="微软雅黑"/>
                <a:ea typeface="微软雅黑"/>
              </a:rPr>
              <a:t>元件在多个项目间可复用；建议小组拼单购买套件，人均成本更低。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media-generation-section-bg-0-7b1fceb4-6a00-469c-a6a8-50e5a6ce5baa.png"/>
          <p:cNvPicPr>
            <a:picLocks noChangeAspect="1"/>
          </p:cNvPicPr>
          <p:nvPr/>
        </p:nvPicPr>
        <p:blipFill>
          <a:blip r:embed="rId2"/>
          <a:srcRect l="1" r="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</p:spPr>
      </p:pic>
      <p:sp>
        <p:nvSpPr>
          <p:cNvPr id="3" name="TextBox 2"/>
          <p:cNvSpPr txBox="1"/>
          <p:nvPr/>
        </p:nvSpPr>
        <p:spPr>
          <a:xfrm>
            <a:off x="914400" y="1828800"/>
            <a:ext cx="10332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4400" b="1">
                <a:solidFill>
                  <a:srgbClr val="E67E22"/>
                </a:solidFill>
                <a:latin typeface="微软雅黑"/>
                <a:ea typeface="微软雅黑"/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697480"/>
            <a:ext cx="10332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4600" b="1">
                <a:solidFill>
                  <a:srgbClr val="FFFFFF"/>
                </a:solidFill>
                <a:latin typeface="微软雅黑"/>
                <a:ea typeface="微软雅黑"/>
              </a:rPr>
              <a:t>从课堂原型到创业产品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3977639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2100" b="0">
                <a:solidFill>
                  <a:srgbClr val="FFFFFF"/>
                </a:solidFill>
                <a:latin typeface="微软雅黑"/>
                <a:ea typeface="微软雅黑"/>
              </a:rPr>
              <a:t>双创视角 · 把作品变成产品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0097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91440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200" b="0">
                <a:solidFill>
                  <a:srgbClr val="FFFFFF"/>
                </a:solidFill>
                <a:latin typeface="微软雅黑"/>
                <a:ea typeface="微软雅黑"/>
              </a:rPr>
              <a:t>04 · 双创视角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56032"/>
            <a:ext cx="10789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2600" b="1">
                <a:solidFill>
                  <a:srgbClr val="FFFFFF"/>
                </a:solidFill>
                <a:latin typeface="微软雅黑"/>
                <a:ea typeface="微软雅黑"/>
              </a:rPr>
              <a:t>从课堂原型到创业产品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804672"/>
            <a:ext cx="822960" cy="4572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40080" y="6355080"/>
            <a:ext cx="10908792" cy="22860"/>
          </a:xfrm>
          <a:prstGeom prst="rect">
            <a:avLst/>
          </a:prstGeom>
          <a:solidFill>
            <a:srgbClr val="F1F4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6419088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100" b="0">
                <a:solidFill>
                  <a:srgbClr val="5F6B72"/>
                </a:solidFill>
                <a:latin typeface="微软雅黑"/>
                <a:ea typeface="微软雅黑"/>
              </a:rPr>
              <a:t>创新创业课程 · Arduino 开源硬件入门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19088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1000"/>
              </a:spcAft>
            </a:pPr>
            <a:r>
              <a:rPr sz="1100" b="0">
                <a:solidFill>
                  <a:srgbClr val="5F6B72"/>
                </a:solidFill>
                <a:latin typeface="微软雅黑"/>
                <a:ea typeface="微软雅黑"/>
              </a:rPr>
              <a:t>25</a:t>
            </a:r>
          </a:p>
        </p:txBody>
      </p:sp>
      <p:pic>
        <p:nvPicPr>
          <p:cNvPr id="9" name="Picture 8" descr="media-generation-mvp-journey-0-87647bcc-c9e5-4ac2-9729-e56b83fb078a.png"/>
          <p:cNvPicPr>
            <a:picLocks noChangeAspect="1"/>
          </p:cNvPicPr>
          <p:nvPr/>
        </p:nvPicPr>
        <p:blipFill>
          <a:blip r:embed="rId2"/>
          <a:srcRect t="5365" b="5365"/>
          <a:stretch>
            <a:fillRect/>
          </a:stretch>
        </p:blipFill>
        <p:spPr>
          <a:xfrm>
            <a:off x="640080" y="1234440"/>
            <a:ext cx="10908792" cy="3246120"/>
          </a:xfrm>
          <a:prstGeom prst="rect">
            <a:avLst/>
          </a:prstGeom>
          <a:ln>
            <a:noFill/>
          </a:ln>
        </p:spPr>
      </p:pic>
      <p:sp>
        <p:nvSpPr>
          <p:cNvPr id="10" name="Rounded Rectangle 9"/>
          <p:cNvSpPr/>
          <p:nvPr/>
        </p:nvSpPr>
        <p:spPr>
          <a:xfrm>
            <a:off x="640080" y="4663440"/>
            <a:ext cx="2651760" cy="123444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F1F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59" y="4800600"/>
            <a:ext cx="2286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006B70"/>
                </a:solidFill>
                <a:latin typeface="微软雅黑"/>
                <a:ea typeface="微软雅黑"/>
              </a:rPr>
              <a:t>用户验证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400" b="0">
                <a:solidFill>
                  <a:srgbClr val="5F6B72"/>
                </a:solidFill>
                <a:latin typeface="微软雅黑"/>
                <a:ea typeface="微软雅黑"/>
              </a:rPr>
              <a:t>给真实用户试用
收集反馈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310128" y="5276088"/>
            <a:ext cx="36575" cy="0"/>
          </a:xfrm>
          <a:prstGeom prst="line">
            <a:avLst/>
          </a:prstGeom>
          <a:ln w="38100">
            <a:solidFill>
              <a:srgbClr val="00979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Isosceles Triangle 12"/>
          <p:cNvSpPr/>
          <p:nvPr/>
        </p:nvSpPr>
        <p:spPr>
          <a:xfrm rot="5400000">
            <a:off x="3337560" y="5193792"/>
            <a:ext cx="146304" cy="164592"/>
          </a:xfrm>
          <a:prstGeom prst="triangle">
            <a:avLst/>
          </a:prstGeom>
          <a:solidFill>
            <a:srgbClr val="0097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3438144" y="4663440"/>
            <a:ext cx="2651760" cy="123444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F1F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621024" y="4800600"/>
            <a:ext cx="2286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006B70"/>
                </a:solidFill>
                <a:latin typeface="微软雅黑"/>
                <a:ea typeface="微软雅黑"/>
              </a:rPr>
              <a:t>结构设计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400" b="0">
                <a:solidFill>
                  <a:srgbClr val="5F6B72"/>
                </a:solidFill>
                <a:latin typeface="微软雅黑"/>
                <a:ea typeface="微软雅黑"/>
              </a:rPr>
              <a:t>3D 打印 / 激光切割
做出像样的外观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108192" y="5276088"/>
            <a:ext cx="36576" cy="0"/>
          </a:xfrm>
          <a:prstGeom prst="line">
            <a:avLst/>
          </a:prstGeom>
          <a:ln w="38100">
            <a:solidFill>
              <a:srgbClr val="00979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Isosceles Triangle 16"/>
          <p:cNvSpPr/>
          <p:nvPr/>
        </p:nvSpPr>
        <p:spPr>
          <a:xfrm rot="5400000">
            <a:off x="6135623" y="5193792"/>
            <a:ext cx="146304" cy="164592"/>
          </a:xfrm>
          <a:prstGeom prst="triangle">
            <a:avLst/>
          </a:prstGeom>
          <a:solidFill>
            <a:srgbClr val="0097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6236208" y="4663440"/>
            <a:ext cx="2651760" cy="123444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F1F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19088" y="4800600"/>
            <a:ext cx="2286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006B70"/>
                </a:solidFill>
                <a:latin typeface="微软雅黑"/>
                <a:ea typeface="微软雅黑"/>
              </a:rPr>
              <a:t>小批量试产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400" b="0">
                <a:solidFill>
                  <a:srgbClr val="5F6B72"/>
                </a:solidFill>
                <a:latin typeface="微软雅黑"/>
                <a:ea typeface="微软雅黑"/>
              </a:rPr>
              <a:t>PCB 打样
几十到几百件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8906256" y="5276088"/>
            <a:ext cx="36576" cy="0"/>
          </a:xfrm>
          <a:prstGeom prst="line">
            <a:avLst/>
          </a:prstGeom>
          <a:ln w="38100">
            <a:solidFill>
              <a:srgbClr val="00979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Isosceles Triangle 20"/>
          <p:cNvSpPr/>
          <p:nvPr/>
        </p:nvSpPr>
        <p:spPr>
          <a:xfrm rot="5400000">
            <a:off x="8933688" y="5193792"/>
            <a:ext cx="146304" cy="164592"/>
          </a:xfrm>
          <a:prstGeom prst="triangle">
            <a:avLst/>
          </a:prstGeom>
          <a:solidFill>
            <a:srgbClr val="0097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9034272" y="4663440"/>
            <a:ext cx="2651760" cy="123444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F1F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217151" y="4800600"/>
            <a:ext cx="2286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006B70"/>
                </a:solidFill>
                <a:latin typeface="微软雅黑"/>
                <a:ea typeface="微软雅黑"/>
              </a:rPr>
              <a:t>众筹 · 电商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400" b="0">
                <a:solidFill>
                  <a:srgbClr val="5F6B72"/>
                </a:solidFill>
                <a:latin typeface="微软雅黑"/>
                <a:ea typeface="微软雅黑"/>
              </a:rPr>
              <a:t>上架销售
跑通商业模式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0097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91440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200" b="0">
                <a:solidFill>
                  <a:srgbClr val="FFFFFF"/>
                </a:solidFill>
                <a:latin typeface="微软雅黑"/>
                <a:ea typeface="微软雅黑"/>
              </a:rPr>
              <a:t>04 · 双创视角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56032"/>
            <a:ext cx="10789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2600" b="1">
                <a:solidFill>
                  <a:srgbClr val="FFFFFF"/>
                </a:solidFill>
                <a:latin typeface="微软雅黑"/>
                <a:ea typeface="微软雅黑"/>
              </a:rPr>
              <a:t>带着商业头脑做项目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804672"/>
            <a:ext cx="822960" cy="4572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40080" y="6355080"/>
            <a:ext cx="10908792" cy="22860"/>
          </a:xfrm>
          <a:prstGeom prst="rect">
            <a:avLst/>
          </a:prstGeom>
          <a:solidFill>
            <a:srgbClr val="F1F4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6419088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100" b="0">
                <a:solidFill>
                  <a:srgbClr val="5F6B72"/>
                </a:solidFill>
                <a:latin typeface="微软雅黑"/>
                <a:ea typeface="微软雅黑"/>
              </a:rPr>
              <a:t>创新创业课程 · Arduino 开源硬件入门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19088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1000"/>
              </a:spcAft>
            </a:pPr>
            <a:r>
              <a:rPr sz="1100" b="0">
                <a:solidFill>
                  <a:srgbClr val="5F6B72"/>
                </a:solidFill>
                <a:latin typeface="微软雅黑"/>
                <a:ea typeface="微软雅黑"/>
              </a:rPr>
              <a:t>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280160"/>
            <a:ext cx="64008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100"/>
              </a:spcAft>
            </a:pPr>
            <a:r>
              <a:rPr sz="2000" b="0">
                <a:solidFill>
                  <a:srgbClr val="2B2B2B"/>
                </a:solidFill>
                <a:latin typeface="微软雅黑"/>
                <a:ea typeface="微软雅黑"/>
              </a:rPr>
              <a:t>真实路径：不少智能硬件创业公司的第一版 Demo，就是用 Arduino 飞线搭出来的</a:t>
            </a:r>
          </a:p>
          <a:p>
            <a:pPr algn="l">
              <a:spcBef>
                <a:spcPts val="0"/>
              </a:spcBef>
              <a:spcAft>
                <a:spcPts val="1100"/>
              </a:spcAft>
            </a:pPr>
            <a:r>
              <a:rPr sz="2000" b="0">
                <a:solidFill>
                  <a:srgbClr val="2B2B2B"/>
                </a:solidFill>
                <a:latin typeface="微软雅黑"/>
                <a:ea typeface="微软雅黑"/>
              </a:rPr>
              <a:t>开源许可提醒：商用时注意原设计的许可证（署名、以相同方式共享改进）</a:t>
            </a:r>
          </a:p>
          <a:p>
            <a:pPr algn="l">
              <a:spcBef>
                <a:spcPts val="0"/>
              </a:spcBef>
              <a:spcAft>
                <a:spcPts val="1100"/>
              </a:spcAft>
            </a:pPr>
            <a:r>
              <a:rPr sz="2000" b="0">
                <a:solidFill>
                  <a:srgbClr val="2B2B2B"/>
                </a:solidFill>
                <a:latin typeface="微软雅黑"/>
                <a:ea typeface="微软雅黑"/>
              </a:rPr>
              <a:t>成本意识：原型花 ¥100 很正常，但量产要压缩到 ¥30 才有利润空间</a:t>
            </a:r>
          </a:p>
          <a:p>
            <a:pPr algn="l">
              <a:spcBef>
                <a:spcPts val="0"/>
              </a:spcBef>
              <a:spcAft>
                <a:spcPts val="1100"/>
              </a:spcAft>
            </a:pPr>
            <a:r>
              <a:rPr sz="2000" b="0">
                <a:solidFill>
                  <a:srgbClr val="2B2B2B"/>
                </a:solidFill>
                <a:latin typeface="微软雅黑"/>
                <a:ea typeface="微软雅黑"/>
              </a:rPr>
              <a:t>比赛通道："互联网+"大赛、"挑战杯"都非常欢迎软硬结合的项目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06640" y="1280160"/>
            <a:ext cx="4114800" cy="3017520"/>
          </a:xfrm>
          <a:prstGeom prst="roundRect">
            <a:avLst/>
          </a:prstGeom>
          <a:solidFill>
            <a:srgbClr val="FDED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680960" y="1508760"/>
            <a:ext cx="356616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2000" b="1">
                <a:solidFill>
                  <a:srgbClr val="E67E22"/>
                </a:solidFill>
                <a:latin typeface="微软雅黑"/>
                <a:ea typeface="微软雅黑"/>
              </a:rPr>
              <a:t>算一笔账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700" b="0">
                <a:solidFill>
                  <a:srgbClr val="2B2B2B"/>
                </a:solidFill>
                <a:latin typeface="微软雅黑"/>
                <a:ea typeface="微软雅黑"/>
              </a:rPr>
              <a:t>原型物料 ¥100
量产目标 ¥30
售价 ¥99
毛利 ¥69 / 台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600" b="1">
                <a:solidFill>
                  <a:srgbClr val="2B2B2B"/>
                </a:solidFill>
                <a:latin typeface="微软雅黑"/>
                <a:ea typeface="微软雅黑"/>
              </a:rPr>
              <a:t>卖 1000 台 = ¥69,000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846320"/>
            <a:ext cx="1090879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006B70"/>
                </a:solidFill>
                <a:latin typeface="微软雅黑"/>
                <a:ea typeface="微软雅黑"/>
              </a:rPr>
              <a:t>今天的课堂作业，可能就是你明年参赛、后年创业的作品。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0097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91440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200" b="0">
                <a:solidFill>
                  <a:srgbClr val="FFFFFF"/>
                </a:solidFill>
                <a:latin typeface="微软雅黑"/>
                <a:ea typeface="微软雅黑"/>
              </a:rPr>
              <a:t>04 · 双创视角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56032"/>
            <a:ext cx="10789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2600" b="1">
                <a:solidFill>
                  <a:srgbClr val="FFFFFF"/>
                </a:solidFill>
                <a:latin typeface="微软雅黑"/>
                <a:ea typeface="微软雅黑"/>
              </a:rPr>
              <a:t>安全须知（必读）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804672"/>
            <a:ext cx="822960" cy="4572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40080" y="6355080"/>
            <a:ext cx="10908792" cy="22860"/>
          </a:xfrm>
          <a:prstGeom prst="rect">
            <a:avLst/>
          </a:prstGeom>
          <a:solidFill>
            <a:srgbClr val="F1F4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6419088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100" b="0">
                <a:solidFill>
                  <a:srgbClr val="5F6B72"/>
                </a:solidFill>
                <a:latin typeface="微软雅黑"/>
                <a:ea typeface="微软雅黑"/>
              </a:rPr>
              <a:t>创新创业课程 · Arduino 开源硬件入门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19088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1000"/>
              </a:spcAft>
            </a:pPr>
            <a:r>
              <a:rPr sz="1100" b="0">
                <a:solidFill>
                  <a:srgbClr val="5F6B72"/>
                </a:solidFill>
                <a:latin typeface="微软雅黑"/>
                <a:ea typeface="微软雅黑"/>
              </a:rPr>
              <a:t>27</a:t>
            </a:r>
          </a:p>
        </p:txBody>
      </p:sp>
      <p:sp>
        <p:nvSpPr>
          <p:cNvPr id="9" name="Oval 8"/>
          <p:cNvSpPr/>
          <p:nvPr/>
        </p:nvSpPr>
        <p:spPr>
          <a:xfrm>
            <a:off x="777240" y="1399032"/>
            <a:ext cx="475488" cy="475488"/>
          </a:xfrm>
          <a:prstGeom prst="ellipse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77240" y="1417320"/>
            <a:ext cx="47548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1000"/>
              </a:spcAft>
            </a:pPr>
            <a:r>
              <a:rPr sz="2000" b="1">
                <a:solidFill>
                  <a:srgbClr val="FFFFFF"/>
                </a:solidFill>
                <a:latin typeface="微软雅黑"/>
                <a:ea typeface="微软雅黑"/>
              </a:rP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132588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800" b="0">
                <a:solidFill>
                  <a:srgbClr val="2B2B2B"/>
                </a:solidFill>
                <a:latin typeface="微软雅黑"/>
                <a:ea typeface="微软雅黑"/>
              </a:rPr>
              <a:t>接线前先断开 USB 数据线，电路改完确认无误后再通电</a:t>
            </a:r>
          </a:p>
        </p:txBody>
      </p:sp>
      <p:sp>
        <p:nvSpPr>
          <p:cNvPr id="12" name="Oval 11"/>
          <p:cNvSpPr/>
          <p:nvPr/>
        </p:nvSpPr>
        <p:spPr>
          <a:xfrm>
            <a:off x="777240" y="2331720"/>
            <a:ext cx="475488" cy="475488"/>
          </a:xfrm>
          <a:prstGeom prst="ellipse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77240" y="2350008"/>
            <a:ext cx="47548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1000"/>
              </a:spcAft>
            </a:pPr>
            <a:r>
              <a:rPr sz="2000" b="1">
                <a:solidFill>
                  <a:srgbClr val="FFFFFF"/>
                </a:solidFill>
                <a:latin typeface="微软雅黑"/>
                <a:ea typeface="微软雅黑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2258568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800" b="0">
                <a:solidFill>
                  <a:srgbClr val="2B2B2B"/>
                </a:solidFill>
                <a:latin typeface="微软雅黑"/>
                <a:ea typeface="微软雅黑"/>
              </a:rPr>
              <a:t>不用 Arduino 引脚直接驱动电机、水泵等大功率设备，用驱动模块或继电器隔离</a:t>
            </a:r>
          </a:p>
        </p:txBody>
      </p:sp>
      <p:sp>
        <p:nvSpPr>
          <p:cNvPr id="15" name="Oval 14"/>
          <p:cNvSpPr/>
          <p:nvPr/>
        </p:nvSpPr>
        <p:spPr>
          <a:xfrm>
            <a:off x="777240" y="3264408"/>
            <a:ext cx="475488" cy="475488"/>
          </a:xfrm>
          <a:prstGeom prst="ellipse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77240" y="3282696"/>
            <a:ext cx="47548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1000"/>
              </a:spcAft>
            </a:pPr>
            <a:r>
              <a:rPr sz="2000" b="1">
                <a:solidFill>
                  <a:srgbClr val="FFFFFF"/>
                </a:solidFill>
                <a:latin typeface="微软雅黑"/>
                <a:ea typeface="微软雅黑"/>
              </a:rP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3191256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800" b="0">
                <a:solidFill>
                  <a:srgbClr val="2B2B2B"/>
                </a:solidFill>
                <a:latin typeface="微软雅黑"/>
                <a:ea typeface="微软雅黑"/>
              </a:rPr>
              <a:t>锂电池充电时远离易燃物，不使用时断开电池</a:t>
            </a:r>
          </a:p>
        </p:txBody>
      </p:sp>
      <p:sp>
        <p:nvSpPr>
          <p:cNvPr id="18" name="Oval 17"/>
          <p:cNvSpPr/>
          <p:nvPr/>
        </p:nvSpPr>
        <p:spPr>
          <a:xfrm>
            <a:off x="777240" y="4197096"/>
            <a:ext cx="475488" cy="475488"/>
          </a:xfrm>
          <a:prstGeom prst="ellipse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77240" y="4215383"/>
            <a:ext cx="47548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1000"/>
              </a:spcAft>
            </a:pPr>
            <a:r>
              <a:rPr sz="2000" b="1">
                <a:solidFill>
                  <a:srgbClr val="FFFFFF"/>
                </a:solidFill>
                <a:latin typeface="微软雅黑"/>
                <a:ea typeface="微软雅黑"/>
              </a:rP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4123944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800" b="0">
                <a:solidFill>
                  <a:srgbClr val="2B2B2B"/>
                </a:solidFill>
                <a:latin typeface="微软雅黑"/>
                <a:ea typeface="微软雅黑"/>
              </a:rPr>
              <a:t>5V 弱电电路绝不触碰 220V 市电 —— 这是红线</a:t>
            </a:r>
          </a:p>
        </p:txBody>
      </p:sp>
      <p:sp>
        <p:nvSpPr>
          <p:cNvPr id="21" name="Oval 20"/>
          <p:cNvSpPr/>
          <p:nvPr/>
        </p:nvSpPr>
        <p:spPr>
          <a:xfrm>
            <a:off x="777240" y="5129784"/>
            <a:ext cx="475488" cy="475488"/>
          </a:xfrm>
          <a:prstGeom prst="ellipse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77240" y="5148072"/>
            <a:ext cx="47548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1000"/>
              </a:spcAft>
            </a:pPr>
            <a:r>
              <a:rPr sz="2000" b="1">
                <a:solidFill>
                  <a:srgbClr val="FFFFFF"/>
                </a:solidFill>
                <a:latin typeface="微软雅黑"/>
                <a:ea typeface="微软雅黑"/>
              </a:rPr>
              <a:t>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63040" y="5056632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800" b="0">
                <a:solidFill>
                  <a:srgbClr val="2B2B2B"/>
                </a:solidFill>
                <a:latin typeface="微软雅黑"/>
                <a:ea typeface="微软雅黑"/>
              </a:rPr>
              <a:t>使用烙铁注意防烫伤；3D 打印时注意通风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0097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91440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200" b="0">
                <a:solidFill>
                  <a:srgbClr val="FFFFFF"/>
                </a:solidFill>
                <a:latin typeface="微软雅黑"/>
                <a:ea typeface="微软雅黑"/>
              </a:rPr>
              <a:t>作业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56032"/>
            <a:ext cx="10789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2600" b="1">
                <a:solidFill>
                  <a:srgbClr val="FFFFFF"/>
                </a:solidFill>
                <a:latin typeface="微软雅黑"/>
                <a:ea typeface="微软雅黑"/>
              </a:rPr>
              <a:t>课后任务：小组立项 · 下节课路演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804672"/>
            <a:ext cx="822960" cy="4572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40080" y="6355080"/>
            <a:ext cx="10908792" cy="22860"/>
          </a:xfrm>
          <a:prstGeom prst="rect">
            <a:avLst/>
          </a:prstGeom>
          <a:solidFill>
            <a:srgbClr val="F1F4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6419088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100" b="0">
                <a:solidFill>
                  <a:srgbClr val="5F6B72"/>
                </a:solidFill>
                <a:latin typeface="微软雅黑"/>
                <a:ea typeface="微软雅黑"/>
              </a:rPr>
              <a:t>创新创业课程 · Arduino 开源硬件入门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19088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1000"/>
              </a:spcAft>
            </a:pPr>
            <a:r>
              <a:rPr sz="1100" b="0">
                <a:solidFill>
                  <a:srgbClr val="5F6B72"/>
                </a:solidFill>
                <a:latin typeface="微软雅黑"/>
                <a:ea typeface="微软雅黑"/>
              </a:rPr>
              <a:t>28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280160"/>
            <a:ext cx="58521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100"/>
              </a:spcAft>
            </a:pPr>
            <a:r>
              <a:rPr sz="2000" b="0">
                <a:solidFill>
                  <a:srgbClr val="2B2B2B"/>
                </a:solidFill>
                <a:latin typeface="微软雅黑"/>
                <a:ea typeface="微软雅黑"/>
              </a:rPr>
              <a:t>3–4 人组队，在身边发现一个真实的小问题</a:t>
            </a:r>
          </a:p>
          <a:p>
            <a:pPr algn="l">
              <a:spcBef>
                <a:spcPts val="0"/>
              </a:spcBef>
              <a:spcAft>
                <a:spcPts val="1100"/>
              </a:spcAft>
            </a:pPr>
            <a:r>
              <a:rPr sz="2000" b="0">
                <a:solidFill>
                  <a:srgbClr val="2B2B2B"/>
                </a:solidFill>
                <a:latin typeface="微软雅黑"/>
                <a:ea typeface="微软雅黑"/>
              </a:rPr>
              <a:t>用本课元件做出可现场演示的最小原型（MVP）</a:t>
            </a:r>
          </a:p>
          <a:p>
            <a:pPr algn="l">
              <a:spcBef>
                <a:spcPts val="0"/>
              </a:spcBef>
              <a:spcAft>
                <a:spcPts val="1100"/>
              </a:spcAft>
            </a:pPr>
            <a:r>
              <a:rPr sz="2000" b="0">
                <a:solidFill>
                  <a:srgbClr val="2B2B2B"/>
                </a:solidFill>
                <a:latin typeface="微软雅黑"/>
                <a:ea typeface="微软雅黑"/>
              </a:rPr>
              <a:t>下节课每组 3 分钟路演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675120" y="1280160"/>
            <a:ext cx="4846320" cy="3291840"/>
          </a:xfrm>
          <a:prstGeom prst="roundRect">
            <a:avLst/>
          </a:prstGeom>
          <a:solidFill>
            <a:srgbClr val="0097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995160" y="1508760"/>
            <a:ext cx="420624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2000" b="1">
                <a:solidFill>
                  <a:srgbClr val="FFFFFF"/>
                </a:solidFill>
                <a:latin typeface="微软雅黑"/>
                <a:ea typeface="微软雅黑"/>
              </a:rPr>
              <a:t>路演四要素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600" b="0">
                <a:solidFill>
                  <a:srgbClr val="FFFFFF"/>
                </a:solidFill>
                <a:latin typeface="微软雅黑"/>
                <a:ea typeface="微软雅黑"/>
              </a:rPr>
              <a:t>•  问题是什么：谁的痛点，有多痛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600" b="0">
                <a:solidFill>
                  <a:srgbClr val="FFFFFF"/>
                </a:solidFill>
                <a:latin typeface="微软雅黑"/>
                <a:ea typeface="微软雅黑"/>
              </a:rPr>
              <a:t>•  方案怎么做：用了哪些元件，什么原理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600" b="0">
                <a:solidFill>
                  <a:srgbClr val="FFFFFF"/>
                </a:solidFill>
                <a:latin typeface="微软雅黑"/>
                <a:ea typeface="微软雅黑"/>
              </a:rPr>
              <a:t>•  现场演示：东西真的能跑起来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600" b="0">
                <a:solidFill>
                  <a:srgbClr val="FFFFFF"/>
                </a:solidFill>
                <a:latin typeface="微软雅黑"/>
                <a:ea typeface="微软雅黑"/>
              </a:rPr>
              <a:t>•  成本多少：物料清单与总成本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675120" y="4800600"/>
            <a:ext cx="4846320" cy="914400"/>
          </a:xfrm>
          <a:prstGeom prst="roundRect">
            <a:avLst/>
          </a:prstGeom>
          <a:solidFill>
            <a:srgbClr val="FDED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995160" y="4956048"/>
            <a:ext cx="4206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600" b="1">
                <a:solidFill>
                  <a:srgbClr val="2B2B2B"/>
                </a:solidFill>
                <a:latin typeface="微软雅黑"/>
                <a:ea typeface="微软雅黑"/>
              </a:rPr>
              <a:t>评分：创意 30% ＋ 完成度 40% ＋ 路演表达 30%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0097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91440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200" b="0">
                <a:solidFill>
                  <a:srgbClr val="FFFFFF"/>
                </a:solidFill>
                <a:latin typeface="微软雅黑"/>
                <a:ea typeface="微软雅黑"/>
              </a:rPr>
              <a:t>拓展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56032"/>
            <a:ext cx="10789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2600" b="1">
                <a:solidFill>
                  <a:srgbClr val="FFFFFF"/>
                </a:solidFill>
                <a:latin typeface="微软雅黑"/>
                <a:ea typeface="微软雅黑"/>
              </a:rPr>
              <a:t>学习资源与社区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804672"/>
            <a:ext cx="822960" cy="4572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40080" y="6355080"/>
            <a:ext cx="10908792" cy="22860"/>
          </a:xfrm>
          <a:prstGeom prst="rect">
            <a:avLst/>
          </a:prstGeom>
          <a:solidFill>
            <a:srgbClr val="F1F4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6419088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100" b="0">
                <a:solidFill>
                  <a:srgbClr val="5F6B72"/>
                </a:solidFill>
                <a:latin typeface="微软雅黑"/>
                <a:ea typeface="微软雅黑"/>
              </a:rPr>
              <a:t>创新创业课程 · Arduino 开源硬件入门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19088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1000"/>
              </a:spcAft>
            </a:pPr>
            <a:r>
              <a:rPr sz="1100" b="0">
                <a:solidFill>
                  <a:srgbClr val="5F6B72"/>
                </a:solidFill>
                <a:latin typeface="微软雅黑"/>
                <a:ea typeface="微软雅黑"/>
              </a:rPr>
              <a:t>29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325880"/>
            <a:ext cx="1371600" cy="658368"/>
          </a:xfrm>
          <a:prstGeom prst="roundRect">
            <a:avLst/>
          </a:prstGeom>
          <a:solidFill>
            <a:srgbClr val="0097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" y="1417320"/>
            <a:ext cx="1371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1000"/>
              </a:spcAft>
            </a:pPr>
            <a:r>
              <a:rPr sz="1600" b="1">
                <a:solidFill>
                  <a:srgbClr val="FFFFFF"/>
                </a:solidFill>
                <a:latin typeface="微软雅黑"/>
                <a:ea typeface="微软雅黑"/>
              </a:rPr>
              <a:t>官方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40280" y="1399032"/>
            <a:ext cx="9326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700" b="0">
                <a:solidFill>
                  <a:srgbClr val="2B2B2B"/>
                </a:solidFill>
                <a:latin typeface="微软雅黑"/>
                <a:ea typeface="微软雅黑"/>
              </a:rPr>
              <a:t>arduino.cc —— IDE 下载、官方教程、项目库 Project Hub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2258568"/>
            <a:ext cx="1371600" cy="658368"/>
          </a:xfrm>
          <a:prstGeom prst="roundRect">
            <a:avLst/>
          </a:prstGeom>
          <a:solidFill>
            <a:srgbClr val="0097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0080" y="2350008"/>
            <a:ext cx="1371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1000"/>
              </a:spcAft>
            </a:pPr>
            <a:r>
              <a:rPr sz="1600" b="1">
                <a:solidFill>
                  <a:srgbClr val="FFFFFF"/>
                </a:solidFill>
                <a:latin typeface="微软雅黑"/>
                <a:ea typeface="微软雅黑"/>
              </a:rPr>
              <a:t>中文教程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40280" y="2331720"/>
            <a:ext cx="9326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700" b="0">
                <a:solidFill>
                  <a:srgbClr val="2B2B2B"/>
                </a:solidFill>
                <a:latin typeface="微软雅黑"/>
                <a:ea typeface="微软雅黑"/>
              </a:rPr>
              <a:t>太极创客 taichi-maker.com、DFRobot 官方资料库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191256"/>
            <a:ext cx="1371600" cy="658368"/>
          </a:xfrm>
          <a:prstGeom prst="roundRect">
            <a:avLst/>
          </a:prstGeom>
          <a:solidFill>
            <a:srgbClr val="0097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0080" y="3282696"/>
            <a:ext cx="1371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1000"/>
              </a:spcAft>
            </a:pPr>
            <a:r>
              <a:rPr sz="1600" b="1">
                <a:solidFill>
                  <a:srgbClr val="FFFFFF"/>
                </a:solidFill>
                <a:latin typeface="微软雅黑"/>
                <a:ea typeface="微软雅黑"/>
              </a:rPr>
              <a:t>视频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240280" y="3264408"/>
            <a:ext cx="9326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700" b="0">
                <a:solidFill>
                  <a:srgbClr val="2B2B2B"/>
                </a:solidFill>
                <a:latin typeface="微软雅黑"/>
                <a:ea typeface="微软雅黑"/>
              </a:rPr>
              <a:t>B 站搜索"Arduino 入门" —— 跟着做一遍比看十遍管用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4123944"/>
            <a:ext cx="1371600" cy="658368"/>
          </a:xfrm>
          <a:prstGeom prst="roundRect">
            <a:avLst/>
          </a:prstGeom>
          <a:solidFill>
            <a:srgbClr val="0097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0080" y="4215383"/>
            <a:ext cx="1371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1000"/>
              </a:spcAft>
            </a:pPr>
            <a:r>
              <a:rPr sz="1600" b="1">
                <a:solidFill>
                  <a:srgbClr val="FFFFFF"/>
                </a:solidFill>
                <a:latin typeface="微软雅黑"/>
                <a:ea typeface="微软雅黑"/>
              </a:rPr>
              <a:t>社区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40280" y="4197096"/>
            <a:ext cx="9326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700" b="0">
                <a:solidFill>
                  <a:srgbClr val="2B2B2B"/>
                </a:solidFill>
                <a:latin typeface="微软雅黑"/>
                <a:ea typeface="微软雅黑"/>
              </a:rPr>
              <a:t>Arduino 中文社区、GitHub 搜索 Arduino + 感兴趣的关键词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5056632"/>
            <a:ext cx="1371600" cy="658368"/>
          </a:xfrm>
          <a:prstGeom prst="roundRect">
            <a:avLst/>
          </a:prstGeom>
          <a:solidFill>
            <a:srgbClr val="0097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40080" y="5148072"/>
            <a:ext cx="1371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1000"/>
              </a:spcAft>
            </a:pPr>
            <a:r>
              <a:rPr sz="1600" b="1">
                <a:solidFill>
                  <a:srgbClr val="FFFFFF"/>
                </a:solidFill>
                <a:latin typeface="微软雅黑"/>
                <a:ea typeface="微软雅黑"/>
              </a:rPr>
              <a:t>进阶路线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240280" y="5129784"/>
            <a:ext cx="9326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700" b="0">
                <a:solidFill>
                  <a:srgbClr val="2B2B2B"/>
                </a:solidFill>
                <a:latin typeface="微软雅黑"/>
                <a:ea typeface="微软雅黑"/>
              </a:rPr>
              <a:t>ESP32 物联网 → 树莓派 → 3D 打印结构设计 → PCB 打样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media-generation-cover-hero-0-9ab846d8-13a7-44f5-9c93-80ca7274ab66.png"/>
          <p:cNvPicPr>
            <a:picLocks noChangeAspect="1"/>
          </p:cNvPicPr>
          <p:nvPr/>
        </p:nvPicPr>
        <p:blipFill>
          <a:blip r:embed="rId2"/>
          <a:srcRect l="1" r="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</p:spPr>
      </p:pic>
      <p:sp>
        <p:nvSpPr>
          <p:cNvPr id="3" name="Rounded Rectangle 2"/>
          <p:cNvSpPr/>
          <p:nvPr/>
        </p:nvSpPr>
        <p:spPr>
          <a:xfrm>
            <a:off x="3108960" y="1920240"/>
            <a:ext cx="5971032" cy="3017520"/>
          </a:xfrm>
          <a:prstGeom prst="roundRect">
            <a:avLst/>
          </a:prstGeom>
          <a:solidFill>
            <a:srgbClr val="004E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108960" y="2286000"/>
            <a:ext cx="5971032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1000"/>
              </a:spcAft>
            </a:pPr>
            <a:r>
              <a:rPr sz="4000" b="1">
                <a:solidFill>
                  <a:srgbClr val="FFFFFF"/>
                </a:solidFill>
                <a:latin typeface="微软雅黑"/>
                <a:ea typeface="微软雅黑"/>
              </a:rPr>
              <a:t>动手，是最好的学习</a:t>
            </a:r>
          </a:p>
          <a:p>
            <a:pPr algn="ctr">
              <a:spcBef>
                <a:spcPts val="0"/>
              </a:spcBef>
              <a:spcAft>
                <a:spcPts val="1000"/>
              </a:spcAft>
            </a:pPr>
            <a:r>
              <a:rPr sz="2400" b="0">
                <a:solidFill>
                  <a:srgbClr val="FFFFFF"/>
                </a:solidFill>
                <a:latin typeface="微软雅黑"/>
                <a:ea typeface="微软雅黑"/>
              </a:rPr>
              <a:t>谢谢大家 · Q&amp;A</a:t>
            </a:r>
          </a:p>
          <a:p>
            <a:pPr algn="ctr">
              <a:spcBef>
                <a:spcPts val="0"/>
              </a:spcBef>
              <a:spcAft>
                <a:spcPts val="1000"/>
              </a:spcAft>
            </a:pPr>
            <a:r>
              <a:rPr sz="1700" b="0">
                <a:solidFill>
                  <a:srgbClr val="FFFFFF"/>
                </a:solidFill>
                <a:latin typeface="微软雅黑"/>
                <a:ea typeface="微软雅黑"/>
              </a:rPr>
              <a:t>下节课带着你的问题和原型，课堂见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1602</Words>
  <Application>Microsoft Macintosh PowerPoint</Application>
  <PresentationFormat>宽屏</PresentationFormat>
  <Paragraphs>416</Paragraphs>
  <Slides>30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30</vt:i4>
      </vt:variant>
    </vt:vector>
  </HeadingPairs>
  <TitlesOfParts>
    <vt:vector size="35" baseType="lpstr">
      <vt:lpstr>微软雅黑</vt:lpstr>
      <vt:lpstr>Arial</vt:lpstr>
      <vt:lpstr>Calibri</vt:lpstr>
      <vt:lpstr>Consolas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Arduino 开源硬件入门（创新创业课程）</dc:title>
  <dc:subject/>
  <dc:creator/>
  <cp:keywords/>
  <dc:description>generated using python-pptx</dc:description>
  <cp:lastModifiedBy>Shichao Chen</cp:lastModifiedBy>
  <cp:revision>2</cp:revision>
  <dcterms:created xsi:type="dcterms:W3CDTF">2013-01-27T09:14:16Z</dcterms:created>
  <dcterms:modified xsi:type="dcterms:W3CDTF">2026-10-12T10:31:44Z</dcterms:modified>
  <cp:category/>
</cp:coreProperties>
</file>