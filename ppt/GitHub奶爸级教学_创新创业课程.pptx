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19" d="100"/>
          <a:sy n="119" d="100"/>
        </p:scale>
        <p:origin x="216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83112" cy="4572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566928"/>
            <a:ext cx="3108960" cy="475488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创新创业课程 · 工具篇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47073" y="411480"/>
            <a:ext cx="10607040" cy="914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u="none" dirty="0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GitHub </a:t>
            </a:r>
            <a:r>
              <a:rPr lang="zh-CN" altLang="en-US" sz="5400" b="1" dirty="0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入门</a:t>
            </a:r>
            <a:r>
              <a:rPr sz="5400" b="1" i="0" u="none" dirty="0" err="1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教学</a:t>
            </a:r>
            <a:endParaRPr sz="5400" b="1" i="0" u="none" dirty="0">
              <a:solidFill>
                <a:srgbClr val="0A2A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6070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从注册到部署，一次搞定 · 零基础也能看懂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607040" cy="23519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 dirty="0" err="1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内容参考</a:t>
            </a:r>
            <a:r>
              <a:rPr sz="1300" b="0" i="0" u="none" dirty="0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：《</a:t>
            </a:r>
            <a:r>
              <a:rPr sz="1300" b="0" i="0" u="none" dirty="0" err="1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一文超详细讲透GitHub</a:t>
            </a:r>
            <a:r>
              <a:rPr sz="1300" b="0" i="0" u="none" dirty="0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这节课的路线图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LEARNING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456432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1298448"/>
          </a:xfrm>
          <a:prstGeom prst="rect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728216"/>
            <a:ext cx="8229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67128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为什么学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14600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数字、开源、Git 与 GitHub 的区别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1103" y="1600200"/>
            <a:ext cx="3456432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61103" y="1600200"/>
            <a:ext cx="82296" cy="1298448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1728216"/>
            <a:ext cx="8229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u="none">
                <a:solidFill>
                  <a:srgbClr val="0E9E8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167128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注册与安全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14600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账号注册、双重认证 2FA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7" y="1600200"/>
            <a:ext cx="3456432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73567" y="1600200"/>
            <a:ext cx="82296" cy="1298448"/>
          </a:xfrm>
          <a:prstGeom prst="rect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9" y="1728216"/>
            <a:ext cx="8229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167128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仓库与搜索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2514600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建仓库、搜项目、读懂仓库、Issues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154680"/>
            <a:ext cx="3456432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3154680"/>
            <a:ext cx="82296" cy="1298448"/>
          </a:xfrm>
          <a:prstGeom prst="rect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3282696"/>
            <a:ext cx="8229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u="none">
                <a:solidFill>
                  <a:srgbClr val="B862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721608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本地 Git ×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069080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不用背命令，对 AI 说六句话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61103" y="3154680"/>
            <a:ext cx="3456432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61103" y="3154680"/>
            <a:ext cx="82296" cy="1298448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17136" y="3282696"/>
            <a:ext cx="8229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u="none">
                <a:solidFill>
                  <a:srgbClr val="0E9E8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3721608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部署上线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069080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GitHub Pages 与 Vercel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7" y="3154680"/>
            <a:ext cx="3456432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73567" y="3154680"/>
            <a:ext cx="82296" cy="1298448"/>
          </a:xfrm>
          <a:prstGeom prst="rect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599" y="3282696"/>
            <a:ext cx="8229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9" y="3721608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Fork 与 Pull 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9" y="4069080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开源协作的标准流程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61103" y="4709160"/>
            <a:ext cx="3456432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61103" y="4709160"/>
            <a:ext cx="82296" cy="1298448"/>
          </a:xfrm>
          <a:prstGeom prst="rect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17136" y="4837176"/>
            <a:ext cx="8229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u="none">
                <a:solidFill>
                  <a:srgbClr val="B8620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7136" y="5276088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看看别人 + 动手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7136" y="5623560"/>
            <a:ext cx="2999232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明星项目与课堂任务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05156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011680" cy="1371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 i="0" u="none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429000"/>
            <a:ext cx="1005840" cy="82296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6949440" cy="10058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为什么学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69494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u="none">
                <a:solidFill>
                  <a:srgbClr val="B9C9DA"/>
                </a:solidFill>
                <a:latin typeface="Microsoft YaHei"/>
                <a:ea typeface="Microsoft YaHei"/>
                <a:cs typeface="Microsoft YaHei"/>
              </a:rPr>
              <a:t>WHY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621792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D7E2EE"/>
                </a:solidFill>
                <a:latin typeface="Microsoft YaHei"/>
                <a:ea typeface="Microsoft YaHei"/>
                <a:cs typeface="Microsoft YaHei"/>
              </a:rPr>
              <a:t>全球开发者的代码大本营，AI 编程时代的人手必备工具。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5A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先看几个数字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BY THE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606040" cy="82296"/>
          </a:xfrm>
          <a:prstGeom prst="rect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224028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1.8 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240280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全球开发者
都在 GitHub 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60020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10712" y="1600200"/>
            <a:ext cx="2606040" cy="82296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1856232"/>
            <a:ext cx="224028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u="none">
                <a:solidFill>
                  <a:srgbClr val="0E9E8E"/>
                </a:solidFill>
                <a:latin typeface="Microsoft YaHei"/>
                <a:ea typeface="Microsoft YaHei"/>
                <a:cs typeface="Microsoft YaHei"/>
              </a:rPr>
              <a:t>6 亿+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651760"/>
            <a:ext cx="2240280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代码仓库
开源项目的家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60020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2784" y="1600200"/>
            <a:ext cx="2606040" cy="82296"/>
          </a:xfrm>
          <a:prstGeom prst="rect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1856232"/>
            <a:ext cx="224028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u="none">
                <a:solidFill>
                  <a:srgbClr val="B8620A"/>
                </a:solidFill>
                <a:latin typeface="Microsoft YaHei"/>
                <a:ea typeface="Microsoft YaHei"/>
                <a:cs typeface="Microsoft YaHei"/>
              </a:rPr>
              <a:t>大厂都在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651760"/>
            <a:ext cx="2240280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腾讯、阿里、字节的
开源项目都在 GitHub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160020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34856" y="1600200"/>
            <a:ext cx="2606040" cy="82296"/>
          </a:xfrm>
          <a:prstGeom prst="rect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17736" y="1856232"/>
            <a:ext cx="224028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AI 编程时代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2651760"/>
            <a:ext cx="2240280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人手一个 GitHub 仓库
代码资产越攒越值钱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94760"/>
            <a:ext cx="11091672" cy="822960"/>
          </a:xfrm>
          <a:prstGeom prst="roundRect">
            <a:avLst>
              <a:gd name="adj" fmla="val 22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4944" y="4041648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3849624"/>
            <a:ext cx="10049256" cy="7132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登月飞船 Apollo-11 的源代码、很火的 AI 项目、程序员做饭指南……全世界的好代码都在这里，你也可以拥有。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92040"/>
            <a:ext cx="11091672" cy="10972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一句话：GitHub 是程序员的“作品集 + 协作广场”，学会它，你的代码就有了全世界可见的家。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开源是什么？Git 与 GitHub 有啥区别？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OPEN SOURCE &amp; GIT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开源 = 把代码公开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394960" cy="20116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把代码文本公开到 GitHub，任何人都能看、能用、能改进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 i="0" u="none">
                <a:solidFill>
                  <a:srgbClr val="0E9E8E"/>
                </a:solidFill>
                <a:latin typeface="Microsoft YaHei"/>
                <a:ea typeface="Microsoft YaHei"/>
                <a:cs typeface="Microsoft YaHei"/>
              </a:rPr>
              <a:t>MIT 协议</a:t>
            </a:r>
            <a:r>
              <a:rPr sz="16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：最宽松，拿去用几乎没限制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 i="0" u="none">
                <a:solidFill>
                  <a:srgbClr val="0E9E8E"/>
                </a:solidFill>
                <a:latin typeface="Microsoft YaHei"/>
                <a:ea typeface="Microsoft YaHei"/>
                <a:cs typeface="Microsoft YaHei"/>
              </a:rPr>
              <a:t>GPL 协议</a:t>
            </a:r>
            <a:r>
              <a:rPr sz="16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：最严格，改完也要继续开源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什么协议都不放：默认</a:t>
            </a:r>
            <a:r>
              <a:rPr sz="1600" b="1" i="0" u="none">
                <a:solidFill>
                  <a:srgbClr val="E0572E"/>
                </a:solidFill>
                <a:latin typeface="Microsoft YaHei"/>
                <a:ea typeface="Microsoft YaHei"/>
                <a:cs typeface="Microsoft YaHei"/>
              </a:rPr>
              <a:t>“保留所有权利”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38988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Git vs GitHub：别再搞混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874519"/>
            <a:ext cx="2606040" cy="1737360"/>
          </a:xfrm>
          <a:prstGeom prst="roundRect">
            <a:avLst>
              <a:gd name="adj" fmla="val 7000"/>
            </a:avLst>
          </a:prstGeom>
          <a:solidFill>
            <a:srgbClr val="2E86D4"/>
          </a:solidFill>
          <a:ln w="9525">
            <a:solidFill>
              <a:srgbClr val="1B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2011680"/>
            <a:ext cx="2331720" cy="1463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Git</a:t>
            </a:r>
            <a:r>
              <a:rPr sz="1400" b="0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
本地版本记录工具
装在你电脑里
记录每一次改动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1874519"/>
            <a:ext cx="2606040" cy="1737360"/>
          </a:xfrm>
          <a:prstGeom prst="roundRect">
            <a:avLst>
              <a:gd name="adj" fmla="val 7000"/>
            </a:avLst>
          </a:prstGeom>
          <a:solidFill>
            <a:srgbClr val="F2A33C"/>
          </a:solidFill>
          <a:ln w="9525">
            <a:solidFill>
              <a:srgbClr val="B862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71432" y="2011680"/>
            <a:ext cx="2331720" cy="1463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GitHub</a:t>
            </a:r>
            <a:r>
              <a:rPr sz="1400" b="0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
云端托管与共享平台
github.com 网站
全世界一起协作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703320"/>
            <a:ext cx="539496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打个比方：Git 是笔记本，GitHub 是把笔记本放到云上给大家看。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11091672" cy="822960"/>
          </a:xfrm>
          <a:prstGeom prst="roundRect">
            <a:avLst>
              <a:gd name="adj" fmla="val 22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94944" y="4590288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398264"/>
            <a:ext cx="10049256" cy="7132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新手常见误区：只在本地用 Git 从不推送 —— 代码只活在自己电脑里，换台电脑就没了。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11091672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记住这一对关系，后面所有操作都围绕它展开。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05156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011680" cy="1371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 i="0" u="none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429000"/>
            <a:ext cx="1005840" cy="82296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6949440" cy="10058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注册与安全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69494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u="none">
                <a:solidFill>
                  <a:srgbClr val="B9C9DA"/>
                </a:solidFill>
                <a:latin typeface="Microsoft YaHei"/>
                <a:ea typeface="Microsoft YaHei"/>
                <a:cs typeface="Microsoft YaHei"/>
              </a:rPr>
              <a:t>SIGN UP &amp;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621792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D7E2EE"/>
                </a:solidFill>
                <a:latin typeface="Microsoft YaHei"/>
                <a:ea typeface="Microsoft YaHei"/>
                <a:cs typeface="Microsoft YaHei"/>
              </a:rPr>
              <a:t>三分钟注册账号，再花两分钟给它加上双重保险。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5A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注册账号：四步搞定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CREATE ACCOUNT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0604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13916" y="1746504"/>
            <a:ext cx="475488" cy="475488"/>
          </a:xfrm>
          <a:prstGeom prst="ellipse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13432"/>
            <a:ext cx="2386584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填邮箱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70632"/>
            <a:ext cx="2386584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推荐用 Gmail
QQ / 163 邮箱容易
收不到验证邮件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72968" y="2377440"/>
            <a:ext cx="219456" cy="274320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10712" y="1600200"/>
            <a:ext cx="260604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75988" y="1746504"/>
            <a:ext cx="475488" cy="475488"/>
          </a:xfrm>
          <a:prstGeom prst="ellipse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13432"/>
            <a:ext cx="2386584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设密码和用户名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770632"/>
            <a:ext cx="2386584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浏览器生成强密码
用户名用姓名拼音
或长期英文 ID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35040" y="2377440"/>
            <a:ext cx="219456" cy="274320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72783" y="1600200"/>
            <a:ext cx="260604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38060" y="1746504"/>
            <a:ext cx="475488" cy="475488"/>
          </a:xfrm>
          <a:prstGeom prst="ellipse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313432"/>
            <a:ext cx="2386584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选国家地区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770632"/>
            <a:ext cx="2386584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按提示完成
基础信息填写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97111" y="2377440"/>
            <a:ext cx="219456" cy="274320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34856" y="1600200"/>
            <a:ext cx="260604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200132" y="1746504"/>
            <a:ext cx="475488" cy="475488"/>
          </a:xfrm>
          <a:prstGeom prst="ellipse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313432"/>
            <a:ext cx="2386584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填 8 位验证码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2770632"/>
            <a:ext cx="2386584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去邮箱查收
验证码完成注册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94760"/>
            <a:ext cx="11091672" cy="822960"/>
          </a:xfrm>
          <a:prstGeom prst="roundRect">
            <a:avLst>
              <a:gd name="adj" fmla="val 22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94944" y="4041648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3849624"/>
            <a:ext cx="10049256" cy="7132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用户名一旦出名就不好改：起一个你愿意用很多年的 ID，比如姓名拼音 + 数字。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00600"/>
            <a:ext cx="11091672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40664" y="5170932"/>
            <a:ext cx="310896" cy="310896"/>
          </a:xfrm>
          <a:prstGeom prst="ellipse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7" y="4873752"/>
            <a:ext cx="10305288" cy="90525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注册成功后先做一件事：点右上角头像，确认邮箱已验证 —— 未验证的账号很多功能受限。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双重认证 2FA：给账号上把锁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TWO-FACTOR AUTH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为什么必须开？密码可能泄露，2FA 是第二道门 —— 即使密码被盗，没有你的手机也登不上去。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65471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开启路径（三步）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2852928"/>
            <a:ext cx="402336" cy="402336"/>
          </a:xfrm>
          <a:prstGeom prst="ellipse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752344"/>
            <a:ext cx="5815584" cy="6035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点右上角头像 → Settings（设置）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" y="3657599"/>
            <a:ext cx="402336" cy="402336"/>
          </a:xfrm>
          <a:prstGeom prst="ellipse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557016"/>
            <a:ext cx="5815584" cy="6035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找到 Password and authentication（密码与认证）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4462272"/>
            <a:ext cx="402336" cy="402336"/>
          </a:xfrm>
          <a:prstGeom prst="ellipse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4361688"/>
            <a:ext cx="5815584" cy="6035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Two-factor authentication → Enable，按提示绑定手机验证器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6952" y="214884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99831" y="2121408"/>
            <a:ext cx="38039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关键提醒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6952" y="2651760"/>
            <a:ext cx="4023360" cy="2377440"/>
          </a:xfrm>
          <a:prstGeom prst="roundRect">
            <a:avLst>
              <a:gd name="adj" fmla="val 7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45552" y="2834640"/>
            <a:ext cx="3566160" cy="20116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u="none">
                <a:solidFill>
                  <a:srgbClr val="B8620A"/>
                </a:solidFill>
                <a:latin typeface="Microsoft YaHei"/>
                <a:ea typeface="Microsoft YaHei"/>
                <a:cs typeface="Microsoft YaHei"/>
              </a:rPr>
              <a:t>16 个恢复码</a:t>
            </a: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
绑定成功后会给你 16 个恢复码，</a:t>
            </a:r>
            <a:r>
              <a:rPr sz="1500" b="1" i="0" u="none">
                <a:solidFill>
                  <a:srgbClr val="E0572E"/>
                </a:solidFill>
                <a:latin typeface="Microsoft YaHei"/>
                <a:ea typeface="Microsoft YaHei"/>
                <a:cs typeface="Microsoft YaHei"/>
              </a:rPr>
              <a:t>务必保存到安全的地方</a:t>
            </a: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（密码管理器或纸质备份）。
手机丢了、验证器没了，全靠它救命。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22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94944" y="5596127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5404103"/>
            <a:ext cx="10049256" cy="7132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课堂小知识：2023 年起，有代码贡献的 GitHub 账号都要求开启 2FA —— 这是平台级的安全红线。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05156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011680" cy="1371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 i="0" u="none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429000"/>
            <a:ext cx="1005840" cy="82296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6949440" cy="10058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仓库与搜索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69494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u="none">
                <a:solidFill>
                  <a:srgbClr val="B9C9DA"/>
                </a:solidFill>
                <a:latin typeface="Microsoft YaHei"/>
                <a:ea typeface="Microsoft YaHei"/>
                <a:cs typeface="Microsoft YaHei"/>
              </a:rPr>
              <a:t>REPOS &amp;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621792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D7E2EE"/>
                </a:solidFill>
                <a:latin typeface="Microsoft YaHei"/>
                <a:ea typeface="Microsoft YaHei"/>
                <a:cs typeface="Microsoft YaHei"/>
              </a:rPr>
              <a:t>创建你的第一个仓库，学会像侦探一样搜索和读懂别人的项目。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5A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创建仓库：你的代码小家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NEW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65471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右上角 + → New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6766560" cy="23774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仓库名</a:t>
            </a:r>
            <a:r>
              <a:rPr sz="16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：全小写 + 连字符，比如 my-first-project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Public / Private</a:t>
            </a:r>
            <a:r>
              <a:rPr sz="16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：公开或私有，免费账号都能无限建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务必勾选 </a:t>
            </a:r>
            <a:r>
              <a:rPr sz="16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Add a README file</a:t>
            </a:r>
            <a:r>
              <a:rPr sz="16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6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没有 README 的仓库，别人点进来就走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6952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99831" y="1389888"/>
            <a:ext cx="38039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README 是什么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6952" y="1920240"/>
            <a:ext cx="4023360" cy="2377440"/>
          </a:xfrm>
          <a:prstGeom prst="roundRect">
            <a:avLst>
              <a:gd name="adj" fmla="val 7000"/>
            </a:avLst>
          </a:prstGeom>
          <a:solidFill>
            <a:srgbClr val="D9F0EC"/>
          </a:solidFill>
          <a:ln w="9525">
            <a:solidFill>
              <a:srgbClr val="0E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45552" y="2103120"/>
            <a:ext cx="3566160" cy="20116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项目的“说明书”</a:t>
            </a: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
写清楚：这个项目是干什么的、怎么用、效果如何。</a:t>
            </a:r>
            <a:r>
              <a:rPr sz="15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
一个好的 README，胜过千言万语。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11091672" cy="822960"/>
          </a:xfrm>
          <a:prstGeom prst="roundRect">
            <a:avLst>
              <a:gd name="adj" fmla="val 22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94944" y="4818888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4626864"/>
            <a:ext cx="10049256" cy="7132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命名习惯：全小写、单词间用连字符 —— 这是全世界开发者的通用约定，跟着做准没错。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搜索项目：用限定符当“筛子”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SEARCH LIKE A PRO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顶部搜索栏直接搜关键词；想精准定位，加上这些限定符：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65836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500" b="1" i="0" u="non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限定符</a:t>
                      </a:r>
                    </a:p>
                  </a:txBody>
                  <a:tcPr marL="64008" marR="64008" marT="13716" marB="13716" anchor="ctr"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500" b="1" i="0" u="non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64008" marR="64008" marT="13716" marB="13716" anchor="ctr"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500" b="1" i="0" u="none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</a:t>
                      </a:r>
                    </a:p>
                  </a:txBody>
                  <a:tcPr marL="64008" marR="64008" marT="13716" marB="13716" anchor="ctr">
                    <a:solidFill>
                      <a:srgbClr val="0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1" i="0" u="none">
                          <a:solidFill>
                            <a:srgbClr val="0A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language: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限定编程语言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language:python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1" i="0" u="none">
                          <a:solidFill>
                            <a:srgbClr val="0A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stars:&gt;</a:t>
                      </a:r>
                    </a:p>
                  </a:txBody>
                  <a:tcPr marL="64008" marR="64008" marT="13716" marB="13716" anchor="ctr"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 数大于</a:t>
                      </a:r>
                    </a:p>
                  </a:txBody>
                  <a:tcPr marL="64008" marR="64008" marT="13716" marB="13716" anchor="ctr"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stars:&gt;1000</a:t>
                      </a:r>
                    </a:p>
                  </a:txBody>
                  <a:tcPr marL="64008" marR="64008" marT="13716" marB="13716" anchor="ctr">
                    <a:solidFill>
                      <a:srgbClr val="E9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1" i="0" u="none">
                          <a:solidFill>
                            <a:srgbClr val="0A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pushed:&gt;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最近更新时间晚于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pushed:&gt;2026-01-01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1" i="0" u="none">
                          <a:solidFill>
                            <a:srgbClr val="0A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in:name</a:t>
                      </a:r>
                    </a:p>
                  </a:txBody>
                  <a:tcPr marL="64008" marR="64008" marT="13716" marB="13716" anchor="ctr"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只在仓库名中搜索</a:t>
                      </a:r>
                    </a:p>
                  </a:txBody>
                  <a:tcPr marL="64008" marR="64008" marT="13716" marB="13716" anchor="ctr"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450" b="0" i="0" u="none">
                          <a:solidFill>
                            <a:srgbClr val="22303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in:name</a:t>
                      </a:r>
                    </a:p>
                  </a:txBody>
                  <a:tcPr marL="64008" marR="64008" marT="13716" marB="13716" anchor="ctr">
                    <a:solidFill>
                      <a:srgbClr val="E9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34072" y="201168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16952" y="1984248"/>
            <a:ext cx="3986783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组合示例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34072" y="2514600"/>
            <a:ext cx="4206240" cy="2194560"/>
          </a:xfrm>
          <a:prstGeom prst="roundRect">
            <a:avLst>
              <a:gd name="adj" fmla="val 7000"/>
            </a:avLst>
          </a:prstGeom>
          <a:solidFill>
            <a:srgbClr val="0A2A4A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62672" y="2697480"/>
            <a:ext cx="3749039" cy="18288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machine learning
language:python
stars:&gt;5000
pushed:&gt;2026-01-01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4072" y="4846320"/>
            <a:ext cx="42062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找“用 Python 写的、很火、还在维护的机器学习项目”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22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94944" y="5596127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5404103"/>
            <a:ext cx="10049256" cy="7132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搜到项目先看三样：Star 数（受欢迎程度）、最近更新时间（是否还在维护）、README（讲不讲人话）。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读懂一个仓库：页面解剖图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ANATOMY OF A REPO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10872216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仓库名格式：用户名 / 仓库名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70078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212140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33472"/>
            <a:ext cx="1481328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收藏点赞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017520"/>
            <a:ext cx="1481328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觉得好就点，
也是你的收藏夹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1965960"/>
            <a:ext cx="170078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615184" y="212140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633472"/>
            <a:ext cx="1481328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复制副本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017520"/>
            <a:ext cx="1481328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复制一份到
你的账号下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4" y="1965960"/>
            <a:ext cx="170078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17136" y="212140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633472"/>
            <a:ext cx="1481328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订阅通知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3017520"/>
            <a:ext cx="1481328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项目有动态
第一时间知道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1965960"/>
            <a:ext cx="170078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9088" y="212140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633472"/>
            <a:ext cx="1481328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代码标签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017520"/>
            <a:ext cx="1481328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看文件、下载代码
绿色 Code 按钮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6448" y="1965960"/>
            <a:ext cx="170078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21040" y="212140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E0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Issues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2633472"/>
            <a:ext cx="1481328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工单系统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3017520"/>
            <a:ext cx="1481328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提 bug、提需求
问用法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1965960"/>
            <a:ext cx="1700784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222992" y="212140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Pull requests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8128" y="2633472"/>
            <a:ext cx="1481328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合并请求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8128" y="3017520"/>
            <a:ext cx="1481328" cy="6400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想给项目贡献代码
走这里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069080"/>
            <a:ext cx="11091672" cy="10972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分支下拉框默认是 </a:t>
            </a: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main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：文件列表旁红删绿增，记录着每一次改动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README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 是说明书；右侧 About 看简介 / 语言 / Star 数；Releases 下有稳定版压缩包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Issues：项目的“工单系统”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遇到 bug、想要新功能、不会用 —— 别憋着，去 Issues 里说。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07568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提 Issue 的正确姿势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2839211"/>
            <a:ext cx="402336" cy="402336"/>
          </a:xfrm>
          <a:prstGeom prst="ellipse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706624"/>
            <a:ext cx="4443984" cy="6675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先搜索：看看有没有人提过同样的问题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" y="3707892"/>
            <a:ext cx="402336" cy="402336"/>
          </a:xfrm>
          <a:prstGeom prst="ellipse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575304"/>
            <a:ext cx="4443984" cy="6675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读 CONTRIBUTING.md 或 ISSUE_TEMPLATE（提问模板）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4576572"/>
            <a:ext cx="402336" cy="402336"/>
          </a:xfrm>
          <a:prstGeom prst="ellipse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4443983"/>
            <a:ext cx="4443984" cy="6675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说清楚：怎么复现、期望什么、环境是什么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21031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2" y="207568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一个加分项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651760"/>
            <a:ext cx="5394960" cy="2514600"/>
          </a:xfrm>
          <a:prstGeom prst="roundRect">
            <a:avLst>
              <a:gd name="adj" fmla="val 7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834640"/>
            <a:ext cx="4937760" cy="21488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给开源项目提 Issue，
是参与开源的第一步</a:t>
            </a:r>
            <a:r>
              <a:rPr sz="15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
不用会写代码，会提问就行。
很多维护者最缺的，
就是认真反馈的用户。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22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94944" y="5687568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5495544"/>
            <a:ext cx="10049256" cy="7132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提问礼仪：标题一句话说清问题，正文贴报错信息和复现步骤 —— 你描述得越清楚，被回复得越快。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05156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011680" cy="1371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 i="0" u="none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429000"/>
            <a:ext cx="1005840" cy="82296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6949440" cy="10058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 Git ×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69494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u="none">
                <a:solidFill>
                  <a:srgbClr val="B9C9DA"/>
                </a:solidFill>
                <a:latin typeface="Microsoft YaHei"/>
                <a:ea typeface="Microsoft YaHei"/>
                <a:cs typeface="Microsoft YaHei"/>
              </a:rPr>
              <a:t>GIT MEETS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621792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D7E2EE"/>
                </a:solidFill>
                <a:latin typeface="Microsoft YaHei"/>
                <a:ea typeface="Microsoft YaHei"/>
                <a:cs typeface="Microsoft YaHei"/>
              </a:rPr>
              <a:t>不用背命令：把六句话交给 AI 编程工具，它替你干活。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5A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对 AI 说六句话，Git 全搞定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TALK TO AI, NOT THE 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Cursor、Copilot、Claude Code、Trae……直接用中文说：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3502152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3502152" cy="566928"/>
          </a:xfrm>
          <a:prstGeom prst="roundRect">
            <a:avLst>
              <a:gd name="adj" fmla="val 18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“初始化 Git 仓库”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07208"/>
            <a:ext cx="3136392" cy="7315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把当前文件夹变成 Git 仓库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57400"/>
            <a:ext cx="3502152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06824" y="2057400"/>
            <a:ext cx="3502152" cy="566928"/>
          </a:xfrm>
          <a:prstGeom prst="roundRect">
            <a:avLst>
              <a:gd name="adj" fmla="val 18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“克隆仓库到本地”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807208"/>
            <a:ext cx="3136392" cy="7315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把 GitHub 上的项目下载下来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2057400"/>
            <a:ext cx="3502152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65008" y="2057400"/>
            <a:ext cx="3502152" cy="566928"/>
          </a:xfrm>
          <a:prstGeom prst="roundRect">
            <a:avLst>
              <a:gd name="adj" fmla="val 18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“提交所有改动”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807208"/>
            <a:ext cx="3136392" cy="7315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把改动打包存档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3502152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02152" cy="566928"/>
          </a:xfrm>
          <a:prstGeom prst="roundRect">
            <a:avLst>
              <a:gd name="adj" fmla="val 18000"/>
            </a:avLst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“推送到 GitHub”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90288"/>
            <a:ext cx="3136392" cy="7315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把本地改动传到云端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6824" y="3840480"/>
            <a:ext cx="3502152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06824" y="3840480"/>
            <a:ext cx="3502152" cy="566928"/>
          </a:xfrm>
          <a:prstGeom prst="roundRect">
            <a:avLst>
              <a:gd name="adj" fmla="val 18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“拉一下最新代码”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4590288"/>
            <a:ext cx="3136392" cy="7315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把云端更新同步到本地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3840480"/>
            <a:ext cx="3502152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65008" y="3840480"/>
            <a:ext cx="3502152" cy="566928"/>
          </a:xfrm>
          <a:prstGeom prst="roundRect">
            <a:avLst>
              <a:gd name="adj" fmla="val 18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“关联 GitHub 仓库并推送”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590288"/>
            <a:ext cx="3136392" cy="7315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本地和云端第一次牵手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86400"/>
            <a:ext cx="11091672" cy="822960"/>
          </a:xfrm>
          <a:prstGeom prst="roundRect">
            <a:avLst>
              <a:gd name="adj" fmla="val 22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94944" y="5733288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5541264"/>
            <a:ext cx="10049256" cy="7132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AI 时代学 Git 的新姿势：先让 AI 替你执行，走通流程；好奇了再去学每条命令到底干了什么。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05156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第五部分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011680" cy="1371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 i="0" u="none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429000"/>
            <a:ext cx="1005840" cy="82296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6949440" cy="10058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部署上线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69494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u="none">
                <a:solidFill>
                  <a:srgbClr val="B9C9DA"/>
                </a:solidFill>
                <a:latin typeface="Microsoft YaHei"/>
                <a:ea typeface="Microsoft YaHei"/>
                <a:cs typeface="Microsoft YaHei"/>
              </a:rPr>
              <a:t>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621792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D7E2EE"/>
                </a:solidFill>
                <a:latin typeface="Microsoft YaHei"/>
                <a:ea typeface="Microsoft YaHei"/>
                <a:cs typeface="Microsoft YaHei"/>
              </a:rPr>
              <a:t>写好的网页，一键变成全世界都能访问的网站。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5A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部署：让全世界看到你的作品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SHIP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0E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GitHub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846320" cy="23774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适合：</a:t>
            </a:r>
            <a:r>
              <a:rPr sz="1550" b="1" i="0" u="none">
                <a:solidFill>
                  <a:srgbClr val="0E9E8E"/>
                </a:solidFill>
                <a:latin typeface="Microsoft YaHei"/>
                <a:ea typeface="Microsoft YaHei"/>
                <a:cs typeface="Microsoft YaHei"/>
              </a:rPr>
              <a:t>纯静态网页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（HTML / CSS / JS）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得到一个地址：</a:t>
            </a:r>
            <a:r>
              <a:rPr sz="15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用户名.github.io/仓库名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用途：作品集、博客、文档站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免费、和仓库长在一起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463040"/>
            <a:ext cx="5394960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1B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19672" y="16916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Vercel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331720"/>
            <a:ext cx="4846320" cy="23774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适合：</a:t>
            </a: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React / Vue / Next.js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 项目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自动 build，分配 </a:t>
            </a:r>
            <a:r>
              <a:rPr sz="15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vercel.app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 域名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每次 push 自动重新部署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：改完代码，网站自己更新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同样免费上手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94960"/>
            <a:ext cx="11091672" cy="822960"/>
          </a:xfrm>
          <a:prstGeom prst="roundRect">
            <a:avLst>
              <a:gd name="adj" fmla="val 22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4944" y="5641848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5449824"/>
            <a:ext cx="10049256" cy="7132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注意边界：这两个都适合“展示型”网站；需要后端数据库、用户登录注册的系统，就得另找服务器方案了。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05156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第六部分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011680" cy="1371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 i="0" u="none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429000"/>
            <a:ext cx="1005840" cy="82296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6949440" cy="10058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Fork 与 Pull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69494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u="none">
                <a:solidFill>
                  <a:srgbClr val="B9C9DA"/>
                </a:solidFill>
                <a:latin typeface="Microsoft YaHei"/>
                <a:ea typeface="Microsoft YaHei"/>
                <a:cs typeface="Microsoft YaHei"/>
              </a:rPr>
              <a:t>FORK &amp; 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621792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D7E2EE"/>
                </a:solidFill>
                <a:latin typeface="Microsoft YaHei"/>
                <a:ea typeface="Microsoft YaHei"/>
                <a:cs typeface="Microsoft YaHei"/>
              </a:rPr>
              <a:t>开源协作的标准动作：复制、修改、请求合并。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5A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Fork → 改 → PR：协作一条龙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COLLABORATION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Fork：复制一份慢慢改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394960" cy="1737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点 Fork，仓库就复制到你的账号下，成为</a:t>
            </a:r>
            <a:r>
              <a:rPr sz="1550" b="1" i="0" u="none">
                <a:solidFill>
                  <a:srgbClr val="0E9E8E"/>
                </a:solidFill>
                <a:latin typeface="Microsoft YaHei"/>
                <a:ea typeface="Microsoft YaHei"/>
                <a:cs typeface="Microsoft YaHei"/>
              </a:rPr>
              <a:t>完全独立的副本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随便改，不影响原项目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原作者更新了？点 </a:t>
            </a:r>
            <a:r>
              <a:rPr sz="15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Sync fork</a:t>
            </a: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 同步一下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417320"/>
            <a:ext cx="73152" cy="310896"/>
          </a:xfrm>
          <a:prstGeom prst="roundRect">
            <a:avLst>
              <a:gd name="adj" fmla="val 50000"/>
            </a:avLst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389888"/>
            <a:ext cx="5175504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两种用途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20240"/>
            <a:ext cx="539496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37376" y="2153412"/>
            <a:ext cx="310896" cy="310896"/>
          </a:xfrm>
          <a:prstGeom prst="ellipse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993392"/>
            <a:ext cx="4608576" cy="6309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想给原项目贡献代码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2788920"/>
            <a:ext cx="539496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37376" y="3022091"/>
            <a:ext cx="310896" cy="310896"/>
          </a:xfrm>
          <a:prstGeom prst="ellipse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862072"/>
            <a:ext cx="4608576" cy="6309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基于别人的代码，改出自己的版本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11091672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Pull Request 六步走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89120"/>
            <a:ext cx="1673352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0936" y="4718304"/>
            <a:ext cx="384048" cy="384048"/>
          </a:xfrm>
          <a:prstGeom prst="ellipse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498848"/>
            <a:ext cx="1014984" cy="8229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Fork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249424" y="4828032"/>
            <a:ext cx="164592" cy="219456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441448" y="4389120"/>
            <a:ext cx="1673352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523744" y="4718304"/>
            <a:ext cx="384048" cy="384048"/>
          </a:xfrm>
          <a:prstGeom prst="ellipse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8376" y="4498848"/>
            <a:ext cx="1014984" cy="8229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clone 到本地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142232" y="4828032"/>
            <a:ext cx="164592" cy="219456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34256" y="4389120"/>
            <a:ext cx="1673352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416552" y="4718304"/>
            <a:ext cx="384048" cy="384048"/>
          </a:xfrm>
          <a:prstGeom prst="ellipse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01184" y="4498848"/>
            <a:ext cx="1014984" cy="8229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本地改代码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035040" y="4828032"/>
            <a:ext cx="164592" cy="219456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27064" y="4389120"/>
            <a:ext cx="1673352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309360" y="4718304"/>
            <a:ext cx="384048" cy="384048"/>
          </a:xfrm>
          <a:prstGeom prst="ellipse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4498848"/>
            <a:ext cx="1014984" cy="8229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add / commit / push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927848" y="4828032"/>
            <a:ext cx="164592" cy="219456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119872" y="4389120"/>
            <a:ext cx="1673352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202168" y="4718304"/>
            <a:ext cx="384048" cy="384048"/>
          </a:xfrm>
          <a:prstGeom prst="ellipse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498848"/>
            <a:ext cx="1014984" cy="8229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点 Compare &amp; pull request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820656" y="4828032"/>
            <a:ext cx="164592" cy="219456"/>
          </a:xfrm>
          <a:prstGeom prst="rightArrow">
            <a:avLst>
              <a:gd name="adj1" fmla="val 35000"/>
              <a:gd name="adj2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012680" y="4389120"/>
            <a:ext cx="1673352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094976" y="4718304"/>
            <a:ext cx="384048" cy="384048"/>
          </a:xfrm>
          <a:prstGeom prst="ellipse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79608" y="4498848"/>
            <a:ext cx="1014984" cy="8229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维护者审核 Merge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669280"/>
            <a:ext cx="11091672" cy="603504"/>
          </a:xfrm>
          <a:prstGeom prst="roundRect">
            <a:avLst>
              <a:gd name="adj" fmla="val 22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94944" y="5806440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44752" y="5724144"/>
            <a:ext cx="10049256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第一次 PR 不用怕：从改错别字、补文档开始 —— 小步贡献最受欢迎。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" name="Picture 2" descr="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105156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第七部分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011680" cy="1371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 i="0" u="none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429000"/>
            <a:ext cx="1005840" cy="82296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6949440" cy="10058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看看别人 + 动手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694944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u="none">
                <a:solidFill>
                  <a:srgbClr val="B9C9DA"/>
                </a:solidFill>
                <a:latin typeface="Microsoft YaHei"/>
                <a:ea typeface="Microsoft YaHei"/>
                <a:cs typeface="Microsoft YaHei"/>
              </a:rPr>
              <a:t>EXPLORE &amp;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621792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D7E2EE"/>
                </a:solidFill>
                <a:latin typeface="Microsoft YaHei"/>
                <a:ea typeface="Microsoft YaHei"/>
                <a:cs typeface="Microsoft YaHei"/>
              </a:rPr>
              <a:t>站在巨人的肩膀上，然后亲手走一遍完整流程。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5A6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9FB2C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这些开源项目，都在 GitHub 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STARS WORTH VISITING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22392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1920240"/>
          </a:xfrm>
          <a:prstGeom prst="rect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764792"/>
            <a:ext cx="493776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阿里 Qwen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21992"/>
            <a:ext cx="4937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QwenLM / Qwen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651760"/>
            <a:ext cx="4937760" cy="7315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国产大模型开源代表
看看顶级 AI 项目长啥样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22392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82296" cy="192024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764792"/>
            <a:ext cx="493776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Apollo-11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21992"/>
            <a:ext cx="4937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chrislgarry / Apollo-11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937760" cy="7315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阿波罗登月飞船源代码
半个世纪前的代码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49039"/>
            <a:ext cx="5422392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82296" cy="1920240"/>
          </a:xfrm>
          <a:prstGeom prst="rect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913631"/>
            <a:ext cx="493776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HowToCook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370831"/>
            <a:ext cx="4937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Anduin2017 / HowToCook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800600"/>
            <a:ext cx="4937760" cy="7315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程序员做饭指南
80K Star 的快乐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422392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749039"/>
            <a:ext cx="82296" cy="1920240"/>
          </a:xfrm>
          <a:prstGeom prst="rect">
            <a:avLst/>
          </a:prstGeom>
          <a:solidFill>
            <a:srgbClr val="1B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3913631"/>
            <a:ext cx="493776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English-level-up-tips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370831"/>
            <a:ext cx="49377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u="none">
                <a:solidFill>
                  <a:srgbClr val="1B6FB8"/>
                </a:solidFill>
                <a:latin typeface="Microsoft YaHei"/>
                <a:ea typeface="Microsoft YaHei"/>
                <a:cs typeface="Microsoft YaHei"/>
              </a:rPr>
              <a:t>byoungd / English-level-up-tips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00600"/>
            <a:ext cx="4937760" cy="7315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英语学习指南
46K Star 的干货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6035040"/>
            <a:ext cx="11091672" cy="603504"/>
          </a:xfrm>
          <a:prstGeom prst="roundRect">
            <a:avLst>
              <a:gd name="adj" fmla="val 22000"/>
            </a:avLst>
          </a:prstGeom>
          <a:solidFill>
            <a:srgbClr val="FFF3E2"/>
          </a:solidFill>
          <a:ln w="9525">
            <a:solidFill>
              <a:srgbClr val="F0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94944" y="6172200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6089903"/>
            <a:ext cx="10049256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飞书官方还开源过带 AI Agent Skills 的命令行工具 —— 搜“awesome”开头的仓库，全是网友整理的宝藏清单。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91440" cy="603504"/>
          </a:xfrm>
          <a:prstGeom prst="roundRect">
            <a:avLst>
              <a:gd name="adj" fmla="val 50000"/>
            </a:avLst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274320"/>
            <a:ext cx="7680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0A2A4A"/>
                </a:solidFill>
                <a:latin typeface="Microsoft YaHei"/>
                <a:ea typeface="Microsoft YaHei"/>
                <a:cs typeface="Microsoft YaHei"/>
              </a:rPr>
              <a:t>课堂任务：走一遍完整流程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38912"/>
            <a:ext cx="3044952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YOUR 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1094415" cy="3200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03504" y="1728216"/>
            <a:ext cx="402336" cy="402336"/>
          </a:xfrm>
          <a:prstGeom prst="ellipse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655064"/>
            <a:ext cx="10140696" cy="548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注册 GitHub 账号并开启 2FA（课堂上就能完成）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478023"/>
            <a:ext cx="402336" cy="402336"/>
          </a:xfrm>
          <a:prstGeom prst="ellipse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404872"/>
            <a:ext cx="10140696" cy="548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创建一个公开仓库，勾选 README，写三行项目介绍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27831"/>
            <a:ext cx="402336" cy="402336"/>
          </a:xfrm>
          <a:prstGeom prst="ellipse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154679"/>
            <a:ext cx="10140696" cy="548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用搜索限定符找一个感兴趣的项目，给它点 Star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977640"/>
            <a:ext cx="402336" cy="402336"/>
          </a:xfrm>
          <a:prstGeom prst="ellipse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904487"/>
            <a:ext cx="10140696" cy="548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打开它的 README 和 Issues，读三个 Issue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727448"/>
            <a:ext cx="402336" cy="402336"/>
          </a:xfrm>
          <a:prstGeom prst="ellipse">
            <a:avLst/>
          </a:prstGeom>
          <a:solidFill>
            <a:srgbClr val="B86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654295"/>
            <a:ext cx="10140696" cy="548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22303F"/>
                </a:solidFill>
                <a:latin typeface="Microsoft YaHei"/>
                <a:ea typeface="Microsoft YaHei"/>
                <a:cs typeface="Microsoft YaHei"/>
              </a:rPr>
              <a:t>（进阶）对 AI 说六句话，把仓库 clone 到本地、改点东西再 push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7000"/>
            </a:avLst>
          </a:prstGeom>
          <a:solidFill>
            <a:srgbClr val="0A2A4A"/>
          </a:solidFill>
          <a:ln w="9525">
            <a:solidFill>
              <a:srgbClr val="0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10607040" cy="5943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踩过一次完整流程，知识才是自己的 —— 从今天起，你也是 GitHub 上 1.8 亿人中的一员。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27648"/>
            <a:ext cx="11094415" cy="2743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86384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GitHub 奶爸级教学 · 创新创业课程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640080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内容参考：产品经理老王霸《一文超详细讲透GitHub》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00800"/>
            <a:ext cx="3657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5D6E8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1343</Words>
  <Application>Microsoft Macintosh PowerPoint</Application>
  <PresentationFormat>宽屏</PresentationFormat>
  <Paragraphs>340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Shichao Chen</cp:lastModifiedBy>
  <cp:revision>2</cp:revision>
  <dcterms:created xsi:type="dcterms:W3CDTF">2013-01-27T09:14:16Z</dcterms:created>
  <dcterms:modified xsi:type="dcterms:W3CDTF">2026-10-18T00:51:45Z</dcterms:modified>
  <cp:category/>
</cp:coreProperties>
</file>