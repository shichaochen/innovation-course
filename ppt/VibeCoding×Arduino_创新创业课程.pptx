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19" d="100"/>
          <a:sy n="119" d="100"/>
        </p:scale>
        <p:origin x="216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11183112" cy="4434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566928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创新创业课程 · 方法篇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3284" y="347472"/>
            <a:ext cx="1060704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 u="none" dirty="0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Vibe Coding × Arduino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041266"/>
            <a:ext cx="2996005" cy="7150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 dirty="0" err="1">
                <a:solidFill>
                  <a:srgbClr val="5D6E8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和</a:t>
            </a:r>
            <a:r>
              <a:rPr sz="2000" b="0" i="0" u="none" dirty="0">
                <a:solidFill>
                  <a:srgbClr val="5D6E8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 AI </a:t>
            </a:r>
            <a:r>
              <a:rPr sz="2000" b="0" i="0" u="none" dirty="0" err="1">
                <a:solidFill>
                  <a:srgbClr val="5D6E8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结对编程：把想法说出来，让创意快速落地</a:t>
            </a:r>
            <a:endParaRPr sz="2000" b="0" i="0" u="none" dirty="0">
              <a:solidFill>
                <a:srgbClr val="5D6E80"/>
              </a:solidFill>
              <a:highlight>
                <a:srgbClr val="FFFF00"/>
              </a:highlight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60704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本节配套 3 个可直接烧录的 Arduino 实例（.ino 源文件随课件附带）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这节课的路线图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LEARNING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1298448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2821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什么是 Vibe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1460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新编程范式：说需求，AI 写代码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3" y="160020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61103" y="1600200"/>
            <a:ext cx="82296" cy="1298448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172821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16712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工具箱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1460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通用 AI 与 AI 编程工具怎么选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7" y="160020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73567" y="1600200"/>
            <a:ext cx="82296" cy="1298448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9" y="172821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16712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方法论：四步法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51460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需求模板、提示词技巧、调试循环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04872" y="315468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04872" y="3154680"/>
            <a:ext cx="82296" cy="1298448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0904" y="328269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372160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实例操作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4" y="406908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智能夜灯 / 测距报警 / 超声波雷达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17336" y="315468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17336" y="3154680"/>
            <a:ext cx="82296" cy="1298448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328269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72160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避坑指南 + 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06908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AI 的幻觉、硬件的边界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什么是 Vibe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WHAT IS 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不用先学完 C 语言，也能做出能动的硬件。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Vibe Coding：一句话讲清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THE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7000"/>
            </a:avLst>
          </a:prstGeom>
          <a:solidFill>
            <a:srgbClr val="0A2A4A"/>
          </a:solidFill>
          <a:ln w="9525">
            <a:solidFill>
              <a:srgbClr val="0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你用自然语言描述想要的功能，AI 生成代码；你负责提需求、审阅和验证。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72968"/>
            <a:ext cx="10872216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人的角色变了，但没消失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352958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3072384" cy="438912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提需求的人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3072384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把想法翻译成 AI 听得懂的描述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3703320"/>
            <a:ext cx="352958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62855" y="3886200"/>
            <a:ext cx="3072384" cy="438912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审阅的人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4480560"/>
            <a:ext cx="3072384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读懂 AI 生成的代码，知道它在干什么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3703320"/>
            <a:ext cx="352958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48471" y="3886200"/>
            <a:ext cx="3072384" cy="438912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验证的人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4480560"/>
            <a:ext cx="3072384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烧录、测试、调现象，拍板“能用”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" y="5596127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5404103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关键心态：AI 是结对编程的搭档，不是外包 —— 闭眼复制粘贴，迟早会被硬件“教育”。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传统编程 vs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OLD WAY vs NEW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916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3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500" b="1" i="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对比项</a:t>
                      </a:r>
                    </a:p>
                  </a:txBody>
                  <a:tcPr marL="64008" marR="64008" marT="13716" marB="13716" anchor="ctr"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500" b="1" i="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传统编程</a:t>
                      </a:r>
                    </a:p>
                  </a:txBody>
                  <a:tcPr marL="64008" marR="64008" marT="13716" marB="13716" anchor="ctr"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500" b="1" i="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Vibe Coding</a:t>
                      </a:r>
                    </a:p>
                  </a:txBody>
                  <a:tcPr marL="64008" marR="64008" marT="13716" marB="13716" anchor="ctr">
                    <a:solidFill>
                      <a:srgbClr val="0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起点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先学语法，再写代码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先说需求，再调代码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写代码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逐行手写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生成初版，人审阅修改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查资料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翻文档、搜论坛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直接问 AI，再交叉验证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调试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自己断点 + 猜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把报错贴给 AI，一起定位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慢而扎实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 5~10 倍，适合原型验证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语法门槛劝退新手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幻觉 + 硬件坑要人把关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结论：Vibe Coding 不是偷懒，而是把人的精力从“写分号”转移到“想清楚要什么”上。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为什么 Vibe Coding 特别适合 Arduino？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WHY ARDUINO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2239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1783080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试错成本高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493776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硬件改一版要重新接线、烧录
AI 帮你一次把代码写对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2239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178308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样板代码多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93776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读传感器、驱动模块都是固定套路
AI 写得又快又稳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2239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783080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794760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报错信息友好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297680"/>
            <a:ext cx="493776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编译错误、串口现象
直接贴给 AI 就能分析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11880"/>
            <a:ext cx="5422392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82296" cy="1783080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794760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创意验证快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97680"/>
            <a:ext cx="493776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有想法→说出来→烧录→看到灯亮
正反馈来得极快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TOOLBOX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选对工具，事半功倍：通用 AI + AI 编程工具 + Arduino 官方资源。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Vibe Coding 工具箱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PICK YOUR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33467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通用 AI（动脑）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566160" cy="21945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ChatGPT / Claude / Gemini：写代码、解释报错、查资料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适合：需求讨论、代码审阅、报错分析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389888"/>
            <a:ext cx="33467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AI 编程工具（动手）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920240"/>
            <a:ext cx="3566160" cy="21945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Cursor / Trae / Copilot：边写边补全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Claude Code：整项目级改代码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适合：已有代码基础上的迭代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5" y="1389888"/>
            <a:ext cx="33467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Arduino 官方（兜底）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920240"/>
            <a:ext cx="3566160" cy="21945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Arduino IDE：编译烧录、串口监视器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arduino.cc 官方文档：函数用法以它为准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适合：验证 AI 说的对不对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4944" y="463600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443983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新手推荐组合：通用 AI（出主意、写初版）+ Arduino IDE（编译烧录看现象）—— 先跑通，再玩高级工具。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记住优先级：能编译 &gt; 好看；能运行 &gt; 优雅。先让灯亮起来。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方法论：四步法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THE 4-STEP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说清需求 → AI 生成 → 烧录验证 → 报错迭代，无限循环直到灯亮。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758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四步法：从想法到灯亮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FOUR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750810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8195" y="1865376"/>
            <a:ext cx="566928" cy="56692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23317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说清需求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331720" cy="85953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 dirty="0" err="1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硬件清单</a:t>
            </a:r>
            <a:r>
              <a:rPr sz="1350" b="0" i="0" u="none" dirty="0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 +
</a:t>
            </a:r>
            <a:r>
              <a:rPr sz="1350" b="0" i="0" u="none" dirty="0" err="1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功能描述</a:t>
            </a:r>
            <a:r>
              <a:rPr sz="1350" b="0" i="0" u="none" dirty="0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350" b="0" i="0" u="none" dirty="0" err="1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约束</a:t>
            </a:r>
            <a:r>
              <a:rPr sz="1350" b="0" i="0" u="none" dirty="0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1350" b="0" i="0" u="none" dirty="0" err="1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写成提示词</a:t>
            </a:r>
            <a:endParaRPr sz="1350" b="0" i="0" u="none" dirty="0">
              <a:solidFill>
                <a:srgbClr val="5D6E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172968" y="2468880"/>
            <a:ext cx="219456" cy="31089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0712" y="1772322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0268" y="1865376"/>
            <a:ext cx="566928" cy="566928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42032"/>
            <a:ext cx="23317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AI 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971800"/>
            <a:ext cx="233172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拿到初版代码
先读懂再烧录
不要闭眼复制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2468880"/>
            <a:ext cx="219456" cy="31089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72783" y="1761568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292340" y="1865376"/>
            <a:ext cx="566928" cy="56692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542032"/>
            <a:ext cx="23317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烧录验证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971800"/>
            <a:ext cx="233172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编译→上传
看现象是否符合
预期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97111" y="2468880"/>
            <a:ext cx="219456" cy="31089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34856" y="1750807"/>
            <a:ext cx="260604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154412" y="1865376"/>
            <a:ext cx="566928" cy="566928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542032"/>
            <a:ext cx="233172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报错迭代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971800"/>
            <a:ext cx="233172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报错/现象
贴回给 AI
修到跑通为止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39"/>
            <a:ext cx="11091672" cy="1051560"/>
          </a:xfrm>
          <a:prstGeom prst="roundRect">
            <a:avLst>
              <a:gd name="adj" fmla="val 7000"/>
            </a:avLst>
          </a:prstGeom>
          <a:solidFill>
            <a:srgbClr val="0A2A4A"/>
          </a:solidFill>
          <a:ln w="9525">
            <a:solidFill>
              <a:srgbClr val="0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0"/>
            <a:ext cx="10515600" cy="7772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循环的终点只有一个：硬件现象符合预期。AI 说“应该可以了”不算，灯亮了才算。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需求描述模板：这样跟 AI 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PROMPT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91672" cy="566928"/>
          </a:xfrm>
          <a:prstGeom prst="roundRect">
            <a:avLst>
              <a:gd name="adj" fmla="val 18000"/>
            </a:avLst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10515600" cy="42062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复制这段结构，填上你的需求发给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515600" cy="22860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【硬件】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Arduino Uno + 面包板
</a:t>
            </a: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【模块】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光敏电阻接 A0，LED 接 D9（PWM 引脚）
</a:t>
            </a: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【功能】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环境越暗 LED 越亮；环境亮时熄灭
</a:t>
            </a: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【约束】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用 analogRead 读数，串口打印光照值方便调试，代码加中文注释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4944" y="523036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03834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模板的灵魂是【模块】里的引脚号：引脚写错，代码再对灯也不亮 —— 这是 AI 猜不到、只能你告诉它的。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提示词技巧：让 AI 更靠谱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PROMPT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0215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02152" cy="82296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56232"/>
            <a:ext cx="3044952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一次只说一个需求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44952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“加个蜂鸣器报警” today，“再加 OLED 显示” tomorrow
贪多=返工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600200"/>
            <a:ext cx="350215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6824" y="1600200"/>
            <a:ext cx="3502152" cy="82296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1856232"/>
            <a:ext cx="3044952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给足上下文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77440"/>
            <a:ext cx="3044952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板子型号、引脚号、库名+版本号
AI 靠这些消除歧义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50215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600200"/>
            <a:ext cx="3502152" cy="82296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856232"/>
            <a:ext cx="3044952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要中文注释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77440"/>
            <a:ext cx="3044952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“给每行关键代码加中文注释”
读懂才能改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7732" y="3749039"/>
            <a:ext cx="350215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27732" y="3749039"/>
            <a:ext cx="3502152" cy="82296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6332" y="4005072"/>
            <a:ext cx="3044952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先思路后代码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6332" y="4526279"/>
            <a:ext cx="3044952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“先讲实现思路，再给代码”
思路错了早发现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5916" y="3749039"/>
            <a:ext cx="350215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85916" y="3749039"/>
            <a:ext cx="3502152" cy="82296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4516" y="4005072"/>
            <a:ext cx="3044952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报错贴完整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516" y="4526279"/>
            <a:ext cx="3044952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完整报错 + 相关代码段 + 你期望的现象
信息越全修得越快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三个真实案例：提示词、接线、代码要点，全部配套 .ino 文件。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案例一：智能夜灯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CASE 1 · 入门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39496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7772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环境越暗，LED 越亮；环境亮时 LED 熄灭。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8152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接线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53949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4937760" cy="1280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🔌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光敏电阻：一脚 5V，一脚接 A0，该脚再经 10k 电阻接 GND（分压）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🔌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LED：长脚经 220Ω 电阻接 D9（PWM），短脚接 GND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发给 AI 的提示词（示例）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874519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FF3E2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1874519"/>
            <a:ext cx="82296" cy="2286000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2002536"/>
            <a:ext cx="4937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你 →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350008"/>
            <a:ext cx="4937760" cy="168249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【硬件】Arduino Uno
【模块】光敏电阻接 A0，LED 接 D9
【功能】越暗越亮，亮时熄灭
【约束】串口打印光照值，加中文注释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34340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431596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代码要点 + 调试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4800600"/>
            <a:ext cx="5394960" cy="11887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代码：</a:t>
            </a: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analogRead → map → analogWrite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调试：用手遮住光敏电阻，看串口数值变化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案例二：超声波测距报警器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CASE 2 · 进阶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39496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7772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HC-SR04 测距；30cm 内有物体报警，距离越近叫得越急促。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8152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接线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53949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4937760" cy="1280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🔌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HC-SR04：VCC→5V，GND→GND，Trig→D7，Echo→D8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🔌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蜂鸣器：一脚接 D6，一脚接 GND（无源用 tone 驱动）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发给 AI 的提示词（示例）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874519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FF3E2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1874519"/>
            <a:ext cx="82296" cy="2286000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2002536"/>
            <a:ext cx="4937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你 →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350008"/>
            <a:ext cx="4937760" cy="168249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【硬件】Arduino Uno
【模块】HC-SR04（Trig D7/Echo D8），蜂鸣器 D6
【功能】&lt;30cm 报警，越近越急
【约束】串口打印距离，加中文注释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34340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431596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代码要点 + 调试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4800600"/>
            <a:ext cx="5394960" cy="11887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代码：</a:t>
            </a: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pulseIn 测距 → map 映射频率/间隔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调试：拿书本靠近/远离，看叫声节奏变化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案例三：超声波雷达扫描仪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CASE 3 · 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39496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4937760" cy="7772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舵机带动超声波 0~180° 来回扫描，串口输出“角度,距离”。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8152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接线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53949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4937760" cy="1280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🔌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舵机：信号线→D9，VCC→5V，GND→GND（建议独立供电）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🔌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HC-SR04：Trig→D7，Echo→D8，VCC→5V，GND→GND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发给 AI 的提示词（示例）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874519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FF3E2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1874519"/>
            <a:ext cx="82296" cy="2286000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2002536"/>
            <a:ext cx="4937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你 →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350008"/>
            <a:ext cx="4937760" cy="168249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【硬件】Arduino Uno
【模块】舵机 D9 + HC-SR04
【功能】0~180° 扫描，串口输出 角度,距离
【约束】每 5° 停 60ms，加中文注释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34340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431596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代码要点 + 调试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4800600"/>
            <a:ext cx="5394960" cy="11887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玩法：打开</a:t>
            </a: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串口绘图器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看扫描波形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输出带表头，可直接复制到表格画雷达图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实例操作：从提示词到灯亮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DO IT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3504" y="1563624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563624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按接线图接好硬件，检查共地（GND 连在一起）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130551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130552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把需求描述模板填好，发给 AI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697479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697479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读一遍 AI 给的代码，重点看引脚号对不对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264408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264408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复制到 Arduino IDE，点“验证”（✓）编译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31336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831335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有报错？把完整报错 + 代码贴回给 AI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4398264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398264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编译通过后选对板子/端口，点“上传”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965192"/>
            <a:ext cx="402336" cy="402336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965191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看现象：遮光敏电阻 / 靠近超声波，符合预期吗？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5532120"/>
            <a:ext cx="402336" cy="402336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5532120"/>
            <a:ext cx="1014069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不符合？描述现象（“灯不亮”“一直叫”）让 AI 帮你查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第五部分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避坑指南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PITFALLS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AI 很强，但有三类坑它替你踩不了 —— 得你亲自把关。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758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避坑指南：AI 搞不定的三件事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WATCH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2239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422392" cy="566928"/>
          </a:xfrm>
          <a:prstGeom prst="roundRect">
            <a:avLst>
              <a:gd name="adj" fmla="val 18000"/>
            </a:avLst>
          </a:prstGeom>
          <a:solidFill>
            <a:srgbClr val="E0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91640"/>
            <a:ext cx="4846320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  AI 会“编”函数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50008"/>
            <a:ext cx="4846320" cy="960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它可能一本正经地编造不存在的库函数。
对策：以编译器为准 —— 编不过就是错了。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2239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22392" cy="566928"/>
          </a:xfrm>
          <a:prstGeom prst="roundRect">
            <a:avLst>
              <a:gd name="adj" fmla="val 18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  AI 看不见你的接线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0008"/>
            <a:ext cx="4846320" cy="960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引脚接错、没共地、电源不够，代码再对也没用。
对策：先查硬件，再怀疑代码。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542239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5422392" cy="566928"/>
          </a:xfrm>
          <a:prstGeom prst="roundRect">
            <a:avLst>
              <a:gd name="adj" fmla="val 18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794759"/>
            <a:ext cx="4846320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  库版本会对不上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453128"/>
            <a:ext cx="4846320" cy="960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AI 记的是旧版本用法，你装的是新版。
对策：报错时报出库名 + 版本号。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03320"/>
            <a:ext cx="542239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422392" cy="566928"/>
          </a:xfrm>
          <a:prstGeom prst="roundRect">
            <a:avLst>
              <a:gd name="adj" fmla="val 18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794759"/>
            <a:ext cx="4846320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  安全红线自己守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53128"/>
            <a:ext cx="4846320" cy="960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别让 AI 设计你不懂的高压/大电流电路。
对策：5V 小信号先玩熟，功率电路问老师。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89320"/>
            <a:ext cx="11091672" cy="603504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4944" y="6126480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6044183"/>
            <a:ext cx="10049256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一句话总结：AI 负责“写得快”，你负责“判得准” —— 编译器和万用表是最终裁判。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736439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课堂任务 + 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YOUR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10872216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这节课的作业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130552"/>
            <a:ext cx="402336" cy="402336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066544"/>
            <a:ext cx="10140696" cy="5303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三选一，用四步法做出一个能动的作品（夜灯 / 报警器 / 雷达）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862072"/>
            <a:ext cx="402336" cy="402336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98064"/>
            <a:ext cx="10140696" cy="5303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把你发给 AI 的提示词和最终代码截图，贴到实验报告里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93592"/>
            <a:ext cx="402336" cy="402336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529584"/>
            <a:ext cx="10140696" cy="5303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写下你遇到的一个坑，以及你是怎么爬出来的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11091672" cy="1554480"/>
          </a:xfrm>
          <a:prstGeom prst="roundRect">
            <a:avLst>
              <a:gd name="adj" fmla="val 7000"/>
            </a:avLst>
          </a:prstGeom>
          <a:solidFill>
            <a:srgbClr val="0A2A4A"/>
          </a:solidFill>
          <a:ln w="9525">
            <a:solidFill>
              <a:srgbClr val="0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5156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Vibe Coding 没有降低对你的要求，</a:t>
            </a:r>
            <a:r>
              <a:rPr sz="19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它只是把你的想法变成现实的速度，
提到了和 AI 对话一样快。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Vibe Coding × Arduino · 创新创业课程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示例代码：vibe_arduino/examples（3 个 .ino）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1499</Words>
  <Application>Microsoft Macintosh PowerPoint</Application>
  <PresentationFormat>宽屏</PresentationFormat>
  <Paragraphs>277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Shichao Chen</cp:lastModifiedBy>
  <cp:revision>3</cp:revision>
  <dcterms:created xsi:type="dcterms:W3CDTF">2013-01-27T09:14:16Z</dcterms:created>
  <dcterms:modified xsi:type="dcterms:W3CDTF">2026-10-18T08:03:11Z</dcterms:modified>
  <cp:category/>
</cp:coreProperties>
</file>